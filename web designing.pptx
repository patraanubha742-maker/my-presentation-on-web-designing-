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339" r:id="rId3"/>
    <p:sldId id="332" r:id="rId5"/>
    <p:sldId id="340" r:id="rId6"/>
    <p:sldId id="294" r:id="rId7"/>
    <p:sldId id="293" r:id="rId8"/>
    <p:sldId id="295" r:id="rId9"/>
    <p:sldId id="341" r:id="rId10"/>
    <p:sldId id="297" r:id="rId11"/>
    <p:sldId id="342" r:id="rId12"/>
    <p:sldId id="303" r:id="rId13"/>
    <p:sldId id="304" r:id="rId14"/>
    <p:sldId id="305" r:id="rId15"/>
    <p:sldId id="343" r:id="rId16"/>
    <p:sldId id="323" r:id="rId17"/>
    <p:sldId id="344" r:id="rId18"/>
  </p:sldIdLst>
  <p:sldSz cx="12192000" cy="6858000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 1 节" id="{DCD3DAD0-E118-4EA2-9365-602AACAD6084}">
          <p14:sldIdLst>
            <p14:sldId id="339"/>
            <p14:sldId id="332"/>
          </p14:sldIdLst>
        </p14:section>
        <p14:section name="第1节" id="{07D8BC2A-D1A1-44D4-98C4-29DB01E2CDEE}">
          <p14:sldIdLst>
            <p14:sldId id="340"/>
            <p14:sldId id="294"/>
            <p14:sldId id="293"/>
            <p14:sldId id="295"/>
          </p14:sldIdLst>
        </p14:section>
        <p14:section name="第 2 节" id="{8613BA81-C8FA-4E67-A346-2D3FA2EE70C2}">
          <p14:sldIdLst>
            <p14:sldId id="341"/>
            <p14:sldId id="297"/>
          </p14:sldIdLst>
        </p14:section>
        <p14:section name="第 3 节" id="{C30FD0F0-DABA-4988-8CAA-CE26CC42A0C3}">
          <p14:sldIdLst>
            <p14:sldId id="342"/>
            <p14:sldId id="303"/>
            <p14:sldId id="304"/>
            <p14:sldId id="305"/>
          </p14:sldIdLst>
        </p14:section>
        <p14:section name="第四节" id="{B312C7EB-FA4E-436D-BF73-75066F57F699}">
          <p14:sldIdLst>
            <p14:sldId id="343"/>
            <p14:sldId id="323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99" userDrawn="1">
          <p15:clr>
            <a:srgbClr val="A4A3A4"/>
          </p15:clr>
        </p15:guide>
        <p15:guide id="2" pos="71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142233"/>
    <a:srgbClr val="FAFBFD"/>
    <a:srgbClr val="FD4A64"/>
    <a:srgbClr val="6A71E6"/>
    <a:srgbClr val="00B1D2"/>
    <a:srgbClr val="8AA3BD"/>
    <a:srgbClr val="5F63AC"/>
    <a:srgbClr val="755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97" autoAdjust="0"/>
    <p:restoredTop sz="83558" autoAdjust="0"/>
  </p:normalViewPr>
  <p:slideViewPr>
    <p:cSldViewPr snapToGrid="0" showGuides="1">
      <p:cViewPr>
        <p:scale>
          <a:sx n="75" d="100"/>
          <a:sy n="75" d="100"/>
        </p:scale>
        <p:origin x="1260" y="858"/>
      </p:cViewPr>
      <p:guideLst>
        <p:guide orient="horz" pos="3899"/>
        <p:guide pos="719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B3E71700-2A4E-4AED-9E00-05FA757A75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FC5B6-F809-48FF-816D-0462E9443E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全局英文字体：</a:t>
            </a:r>
            <a:r>
              <a:rPr lang="en-US" altLang="zh-CN"/>
              <a:t>Arial</a:t>
            </a:r>
            <a:endParaRPr lang="en-US" altLang="zh-CN"/>
          </a:p>
          <a:p>
            <a:r>
              <a:rPr lang="zh-CN" altLang="en-US"/>
              <a:t>全局中文字体：微软雅黑 </a:t>
            </a:r>
            <a:endParaRPr lang="en-US" altLang="zh-CN"/>
          </a:p>
          <a:p>
            <a:r>
              <a:rPr lang="zh-CN" altLang="en-US"/>
              <a:t>无用到特殊字体，建议使用微软</a:t>
            </a:r>
            <a:r>
              <a:rPr lang="en-US" altLang="zh-CN"/>
              <a:t>OFFICE2013</a:t>
            </a:r>
            <a:r>
              <a:rPr lang="zh-CN" altLang="en-US"/>
              <a:t>或</a:t>
            </a:r>
            <a:r>
              <a:rPr lang="en-US" altLang="zh-CN"/>
              <a:t>2016</a:t>
            </a:r>
            <a:r>
              <a:rPr lang="zh-CN" altLang="en-US"/>
              <a:t>演示，效果更佳</a:t>
            </a:r>
            <a:endParaRPr lang="zh-CN" altLang="en-US"/>
          </a:p>
          <a:p>
            <a:r>
              <a:rPr lang="zh-CN" altLang="en-US"/>
              <a:t>感谢你的购买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更多作品，请访问作者主页，为你职场助力。</a:t>
            </a:r>
            <a:endParaRPr lang="zh-CN" altLang="en-US"/>
          </a:p>
          <a:p>
            <a:r>
              <a:rPr lang="zh-CN" altLang="en-US"/>
              <a:t>售后服务</a:t>
            </a:r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835692134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A9EA2-4E0C-4ED9-900A-7F897B70E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4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4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4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4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6930888" y="2025660"/>
            <a:ext cx="5261113" cy="2994992"/>
          </a:xfrm>
          <a:custGeom>
            <a:avLst/>
            <a:gdLst>
              <a:gd name="connsiteX0" fmla="*/ 0 w 5261113"/>
              <a:gd name="connsiteY0" fmla="*/ 0 h 2994992"/>
              <a:gd name="connsiteX1" fmla="*/ 5261113 w 5261113"/>
              <a:gd name="connsiteY1" fmla="*/ 0 h 2994992"/>
              <a:gd name="connsiteX2" fmla="*/ 5261113 w 5261113"/>
              <a:gd name="connsiteY2" fmla="*/ 2994992 h 2994992"/>
              <a:gd name="connsiteX3" fmla="*/ 0 w 5261113"/>
              <a:gd name="connsiteY3" fmla="*/ 2994992 h 299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1113" h="2994992">
                <a:moveTo>
                  <a:pt x="0" y="0"/>
                </a:moveTo>
                <a:lnTo>
                  <a:pt x="5261113" y="0"/>
                </a:lnTo>
                <a:lnTo>
                  <a:pt x="5261113" y="2994992"/>
                </a:lnTo>
                <a:lnTo>
                  <a:pt x="0" y="299499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14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117600" y="1827213"/>
            <a:ext cx="3090863" cy="304800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5"/>
          <p:cNvSpPr>
            <a:spLocks noGrp="1"/>
          </p:cNvSpPr>
          <p:nvPr>
            <p:ph type="pic" sz="quarter" idx="11"/>
          </p:nvPr>
        </p:nvSpPr>
        <p:spPr>
          <a:xfrm>
            <a:off x="4549551" y="1827213"/>
            <a:ext cx="3090863" cy="304800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5"/>
          <p:cNvSpPr>
            <a:spLocks noGrp="1"/>
          </p:cNvSpPr>
          <p:nvPr>
            <p:ph type="pic" sz="quarter" idx="12"/>
          </p:nvPr>
        </p:nvSpPr>
        <p:spPr>
          <a:xfrm>
            <a:off x="8012566" y="1827213"/>
            <a:ext cx="3090863" cy="3048000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639066" y="1799449"/>
            <a:ext cx="3901087" cy="3902988"/>
          </a:xfrm>
          <a:prstGeom prst="ellipse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8818563" y="1738313"/>
            <a:ext cx="1954212" cy="341471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4368802" y="1803060"/>
            <a:ext cx="1684337" cy="167560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6096002" y="1803060"/>
            <a:ext cx="1685925" cy="167560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4368802" y="3512005"/>
            <a:ext cx="1684337" cy="168592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3"/>
          </p:nvPr>
        </p:nvSpPr>
        <p:spPr>
          <a:xfrm>
            <a:off x="6096002" y="3512005"/>
            <a:ext cx="1685925" cy="168592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4" t="20001" r="8861" b="19999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accent1">
              <a:lumMod val="75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 typeface="Wingdings" panose="05000000000000000000" pitchFamily="2" charset="2"/>
        <a:buChar char=""/>
        <a:defRPr lang="zh-CN" altLang="en-US" sz="2800" kern="1200" baseline="0" dirty="0" smtClean="0">
          <a:solidFill>
            <a:schemeClr val="accent1">
              <a:lumMod val="75000"/>
            </a:schemeClr>
          </a:solidFill>
          <a:latin typeface="+mn-ea"/>
          <a:ea typeface="+mn-ea"/>
          <a:cs typeface="+mn-cs"/>
        </a:defRPr>
      </a:lvl1pPr>
      <a:lvl2pPr marL="357505" indent="-357505" algn="just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YouYuan" panose="02010509060101010101" pitchFamily="49" charset="-122"/>
        <a:buChar char=" "/>
        <a:defRPr sz="20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hemeOverride" Target="../theme/themeOverride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hemeOverride" Target="../theme/themeOverride8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hemeOverride" Target="../theme/themeOverride1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hemeOverride" Target="../theme/themeOverride14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文本框 1600"/>
          <p:cNvSpPr txBox="1"/>
          <p:nvPr/>
        </p:nvSpPr>
        <p:spPr>
          <a:xfrm>
            <a:off x="2379782" y="2217888"/>
            <a:ext cx="7448550" cy="208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altLang="en-US" sz="5400" b="1" dirty="0">
                <a:solidFill>
                  <a:schemeClr val="bg1"/>
                </a:solidFill>
                <a:effectLst>
                  <a:glow rad="25400">
                    <a:schemeClr val="bg1">
                      <a:alpha val="60000"/>
                    </a:schemeClr>
                  </a:glow>
                </a:effectLst>
                <a:cs typeface="+mn-ea"/>
                <a:sym typeface="+mn-lt"/>
              </a:rPr>
              <a:t>PERFUME </a:t>
            </a:r>
            <a:endParaRPr lang="en-IN" altLang="en-US" sz="5400" b="1" dirty="0">
              <a:solidFill>
                <a:schemeClr val="bg1"/>
              </a:solidFill>
              <a:effectLst>
                <a:glow rad="25400">
                  <a:schemeClr val="bg1">
                    <a:alpha val="60000"/>
                  </a:schemeClr>
                </a:glow>
              </a:effectLst>
              <a:cs typeface="+mn-ea"/>
              <a:sym typeface="+mn-lt"/>
            </a:endParaRPr>
          </a:p>
          <a:p>
            <a:pPr algn="ctr">
              <a:lnSpc>
                <a:spcPct val="120000"/>
              </a:lnSpc>
            </a:pPr>
            <a:r>
              <a:rPr lang="en-IN" altLang="en-US" sz="5400" b="1" dirty="0">
                <a:solidFill>
                  <a:schemeClr val="bg1"/>
                </a:solidFill>
                <a:effectLst>
                  <a:glow rad="25400">
                    <a:schemeClr val="bg1">
                      <a:alpha val="60000"/>
                    </a:schemeClr>
                  </a:glow>
                </a:effectLst>
                <a:cs typeface="+mn-ea"/>
                <a:sym typeface="+mn-lt"/>
              </a:rPr>
              <a:t>WEBSITE </a:t>
            </a:r>
            <a:endParaRPr lang="en-IN" altLang="en-US" sz="5400" b="1" dirty="0">
              <a:solidFill>
                <a:schemeClr val="bg1"/>
              </a:solidFill>
              <a:effectLst>
                <a:glow rad="25400">
                  <a:schemeClr val="bg1">
                    <a:alpha val="60000"/>
                  </a:schemeClr>
                </a:glow>
              </a:effectLst>
              <a:cs typeface="+mn-ea"/>
              <a:sym typeface="+mn-lt"/>
            </a:endParaRPr>
          </a:p>
        </p:txBody>
      </p:sp>
      <p:grpSp>
        <p:nvGrpSpPr>
          <p:cNvPr id="1602" name="组合 1601"/>
          <p:cNvGrpSpPr/>
          <p:nvPr/>
        </p:nvGrpSpPr>
        <p:grpSpPr>
          <a:xfrm>
            <a:off x="4187746" y="4169423"/>
            <a:ext cx="3816508" cy="349250"/>
            <a:chOff x="4325622" y="5966877"/>
            <a:chExt cx="3816508" cy="349250"/>
          </a:xfrm>
        </p:grpSpPr>
        <p:sp>
          <p:nvSpPr>
            <p:cNvPr id="1603" name="文本框 1602"/>
            <p:cNvSpPr txBox="1"/>
            <p:nvPr/>
          </p:nvSpPr>
          <p:spPr>
            <a:xfrm>
              <a:off x="6235700" y="5966877"/>
              <a:ext cx="1906430" cy="349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20000"/>
                </a:lnSpc>
                <a:buClr>
                  <a:schemeClr val="bg1"/>
                </a:buClr>
                <a:buSzPct val="130000"/>
                <a:buFont typeface="Wingdings" panose="05000000000000000000" pitchFamily="2" charset="2"/>
                <a:buNone/>
              </a:pPr>
              <a:r>
                <a:rPr lang="en-IN" altLang="en-US" sz="1400">
                  <a:solidFill>
                    <a:schemeClr val="bg1"/>
                  </a:solidFill>
                  <a:cs typeface="+mn-ea"/>
                  <a:sym typeface="+mn-lt"/>
                </a:rPr>
                <a:t>  .3  JAVASCRIPT</a:t>
              </a:r>
              <a:endParaRPr lang="en-I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04" name="文本框 1603"/>
            <p:cNvSpPr txBox="1"/>
            <p:nvPr/>
          </p:nvSpPr>
          <p:spPr>
            <a:xfrm>
              <a:off x="4325622" y="5966877"/>
              <a:ext cx="2049778" cy="349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20000"/>
                </a:lnSpc>
                <a:buClr>
                  <a:schemeClr val="bg1"/>
                </a:buClr>
                <a:buSzPct val="130000"/>
                <a:buFont typeface="Wingdings" panose="05000000000000000000" pitchFamily="2" charset="2"/>
                <a:buNone/>
              </a:pPr>
              <a:r>
                <a:rPr lang="en-IN" altLang="zh-CN" sz="1400">
                  <a:solidFill>
                    <a:schemeClr val="bg1"/>
                  </a:solidFill>
                  <a:cs typeface="+mn-ea"/>
                  <a:sym typeface="+mn-lt"/>
                </a:rPr>
                <a:t>.1 HTML       .2   CSS</a:t>
              </a:r>
              <a:endParaRPr lang="en-IN" altLang="zh-CN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1958227" y="1806679"/>
            <a:ext cx="2489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sz="2000" b="1" dirty="0">
                <a:solidFill>
                  <a:schemeClr val="bg1"/>
                </a:solidFill>
                <a:cs typeface="+mn-ea"/>
                <a:sym typeface="+mn-lt"/>
              </a:rPr>
              <a:t>INTRODUCTION </a:t>
            </a:r>
            <a:endParaRPr lang="en-IN" altLang="zh-CN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58227" y="2197522"/>
            <a:ext cx="386071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sz="1400">
                <a:solidFill>
                  <a:schemeClr val="bg1"/>
                </a:solidFill>
                <a:cs typeface="+mn-ea"/>
                <a:sym typeface="+mn-lt"/>
              </a:rPr>
              <a:t>All about html , css &amp; javascript </a:t>
            </a:r>
            <a:endParaRPr lang="en-IN" altLang="zh-CN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958340" y="2964180"/>
            <a:ext cx="4494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sz="2000" b="1">
                <a:solidFill>
                  <a:schemeClr val="bg1"/>
                </a:solidFill>
                <a:cs typeface="+mn-ea"/>
                <a:sym typeface="+mn-lt"/>
              </a:rPr>
              <a:t>WHY I CHOOSE THIS PROJECT   </a:t>
            </a:r>
            <a:endParaRPr lang="en-IN" altLang="zh-CN" sz="20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958228" y="3354726"/>
            <a:ext cx="3860710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en-US" sz="1400">
                <a:solidFill>
                  <a:schemeClr val="bg1"/>
                </a:solidFill>
                <a:cs typeface="+mn-ea"/>
                <a:sym typeface="+mn-lt"/>
              </a:rPr>
              <a:t>all about intrest </a:t>
            </a:r>
            <a:r>
              <a:rPr lang="en-US" altLang="zh-CN" sz="1400">
                <a:solidFill>
                  <a:schemeClr val="bg1"/>
                </a:solidFill>
                <a:cs typeface="+mn-ea"/>
                <a:sym typeface="+mn-lt"/>
              </a:rPr>
              <a:t> 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958227" y="4121087"/>
            <a:ext cx="2489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sz="2000" b="1">
                <a:solidFill>
                  <a:schemeClr val="bg1"/>
                </a:solidFill>
                <a:cs typeface="+mn-ea"/>
                <a:sym typeface="+mn-lt"/>
              </a:rPr>
              <a:t>MY WEB PAGE </a:t>
            </a:r>
            <a:endParaRPr lang="en-IN" altLang="zh-CN" sz="20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958340" y="5278120"/>
            <a:ext cx="5003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sz="2000" b="1">
                <a:solidFill>
                  <a:schemeClr val="bg1"/>
                </a:solidFill>
                <a:cs typeface="+mn-ea"/>
                <a:sym typeface="+mn-lt"/>
              </a:rPr>
              <a:t>LEARING OUTCOME </a:t>
            </a:r>
            <a:endParaRPr lang="en-IN" altLang="zh-CN" sz="20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958228" y="5669133"/>
            <a:ext cx="3860710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en-US" sz="1400">
                <a:solidFill>
                  <a:schemeClr val="bg1"/>
                </a:solidFill>
                <a:cs typeface="+mn-ea"/>
                <a:sym typeface="+mn-lt"/>
              </a:rPr>
              <a:t>what </a:t>
            </a:r>
            <a:r>
              <a:rPr lang="en-US" altLang="zh-CN" sz="140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IN" altLang="en-US" sz="1400">
                <a:solidFill>
                  <a:schemeClr val="bg1"/>
                </a:solidFill>
                <a:cs typeface="+mn-ea"/>
                <a:sym typeface="+mn-lt"/>
              </a:rPr>
              <a:t>we learn and understand </a:t>
            </a:r>
            <a:endParaRPr lang="en-I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70970" y="569656"/>
            <a:ext cx="1558290" cy="5406412"/>
            <a:chOff x="670970" y="626806"/>
            <a:chExt cx="1558290" cy="5406412"/>
          </a:xfrm>
        </p:grpSpPr>
        <p:cxnSp>
          <p:nvCxnSpPr>
            <p:cNvPr id="60" name="直接连接符 59"/>
            <p:cNvCxnSpPr>
              <a:stCxn id="70" idx="4"/>
            </p:cNvCxnSpPr>
            <p:nvPr/>
          </p:nvCxnSpPr>
          <p:spPr>
            <a:xfrm>
              <a:off x="1439795" y="1636136"/>
              <a:ext cx="0" cy="4056587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/>
            <p:cNvSpPr/>
            <p:nvPr/>
          </p:nvSpPr>
          <p:spPr>
            <a:xfrm>
              <a:off x="1240677" y="2186179"/>
              <a:ext cx="419100" cy="419100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220371" y="2124977"/>
              <a:ext cx="439964" cy="4944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rgbClr val="142233"/>
                  </a:solidFill>
                  <a:cs typeface="+mn-ea"/>
                  <a:sym typeface="+mn-lt"/>
                </a:rPr>
                <a:t>1</a:t>
              </a:r>
              <a:endParaRPr lang="zh-CN" altLang="en-US" b="1" dirty="0">
                <a:solidFill>
                  <a:srgbClr val="142233"/>
                </a:solidFill>
                <a:cs typeface="+mn-ea"/>
                <a:sym typeface="+mn-lt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240677" y="3323816"/>
              <a:ext cx="419100" cy="419100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220371" y="3262614"/>
              <a:ext cx="439964" cy="4944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rgbClr val="142233"/>
                  </a:solidFill>
                  <a:cs typeface="+mn-ea"/>
                  <a:sym typeface="+mn-lt"/>
                </a:rPr>
                <a:t>2</a:t>
              </a:r>
              <a:endParaRPr lang="zh-CN" altLang="en-US" b="1" dirty="0">
                <a:solidFill>
                  <a:srgbClr val="142233"/>
                </a:solidFill>
                <a:cs typeface="+mn-ea"/>
                <a:sym typeface="+mn-lt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1240677" y="4502672"/>
              <a:ext cx="419100" cy="419100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220371" y="4441470"/>
              <a:ext cx="439964" cy="4944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rgbClr val="142233"/>
                  </a:solidFill>
                  <a:cs typeface="+mn-ea"/>
                  <a:sym typeface="+mn-lt"/>
                </a:rPr>
                <a:t>3</a:t>
              </a:r>
              <a:endParaRPr lang="zh-CN" altLang="en-US" b="1" dirty="0">
                <a:solidFill>
                  <a:srgbClr val="142233"/>
                </a:solidFill>
                <a:cs typeface="+mn-ea"/>
                <a:sym typeface="+mn-lt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1240677" y="5599989"/>
              <a:ext cx="419100" cy="419100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20371" y="5538787"/>
              <a:ext cx="439964" cy="4944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rgbClr val="142233"/>
                  </a:solidFill>
                  <a:cs typeface="+mn-ea"/>
                  <a:sym typeface="+mn-lt"/>
                </a:rPr>
                <a:t>4</a:t>
              </a:r>
              <a:endParaRPr lang="zh-CN" altLang="en-US" b="1" dirty="0">
                <a:solidFill>
                  <a:srgbClr val="142233"/>
                </a:solidFill>
                <a:cs typeface="+mn-ea"/>
                <a:sym typeface="+mn-lt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670970" y="626806"/>
              <a:ext cx="1558290" cy="1009330"/>
              <a:chOff x="6119724" y="509788"/>
              <a:chExt cx="1558290" cy="1009330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6383884" y="509788"/>
                <a:ext cx="1009330" cy="1009330"/>
              </a:xfrm>
              <a:prstGeom prst="ellipse">
                <a:avLst/>
              </a:pr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6119724" y="784108"/>
                <a:ext cx="1558290" cy="386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600" b="1">
                    <a:solidFill>
                      <a:srgbClr val="142233"/>
                    </a:solidFill>
                    <a:cs typeface="+mn-ea"/>
                    <a:sym typeface="+mn-lt"/>
                  </a:rPr>
                  <a:t>CONTENT</a:t>
                </a:r>
                <a:endParaRPr lang="en-US" altLang="zh-CN" sz="1600" b="1" dirty="0">
                  <a:solidFill>
                    <a:srgbClr val="142233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Text Box 3"/>
          <p:cNvSpPr txBox="1"/>
          <p:nvPr/>
        </p:nvSpPr>
        <p:spPr>
          <a:xfrm>
            <a:off x="1845945" y="4759960"/>
            <a:ext cx="447738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I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contains home page , products , about us &amp; contact</a:t>
            </a:r>
            <a:endParaRPr lang="en-IN" altLang="en-US" sz="1400" dirty="0" smtClean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427095" y="3152775"/>
            <a:ext cx="5337810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altLang="zh-CN" sz="4400" dirty="0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  <a:sym typeface="+mn-lt"/>
              </a:rPr>
              <a:t>INTRODUCTION </a:t>
            </a:r>
            <a:endParaRPr lang="en-IN" altLang="zh-CN" sz="4400" dirty="0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31325" y="3728069"/>
            <a:ext cx="354864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39745" y="2119343"/>
            <a:ext cx="2112510" cy="1167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60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01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组合 1032"/>
          <p:cNvGrpSpPr/>
          <p:nvPr/>
        </p:nvGrpSpPr>
        <p:grpSpPr>
          <a:xfrm>
            <a:off x="7721463" y="1083800"/>
            <a:ext cx="3194050" cy="775335"/>
            <a:chOff x="7849733" y="2186211"/>
            <a:chExt cx="3194050" cy="775335"/>
          </a:xfrm>
        </p:grpSpPr>
        <p:sp>
          <p:nvSpPr>
            <p:cNvPr id="198" name="Freeform 24"/>
            <p:cNvSpPr>
              <a:spLocks noChangeAspect="1" noEditPoints="1"/>
            </p:cNvSpPr>
            <p:nvPr/>
          </p:nvSpPr>
          <p:spPr bwMode="auto">
            <a:xfrm>
              <a:off x="7849733" y="2190974"/>
              <a:ext cx="360362" cy="360362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26 w 60"/>
                <a:gd name="T11" fmla="*/ 44 h 60"/>
                <a:gd name="T12" fmla="*/ 12 w 60"/>
                <a:gd name="T13" fmla="*/ 30 h 60"/>
                <a:gd name="T14" fmla="*/ 17 w 60"/>
                <a:gd name="T15" fmla="*/ 24 h 60"/>
                <a:gd name="T16" fmla="*/ 26 w 60"/>
                <a:gd name="T17" fmla="*/ 33 h 60"/>
                <a:gd name="T18" fmla="*/ 43 w 60"/>
                <a:gd name="T19" fmla="*/ 16 h 60"/>
                <a:gd name="T20" fmla="*/ 48 w 60"/>
                <a:gd name="T21" fmla="*/ 22 h 60"/>
                <a:gd name="T22" fmla="*/ 26 w 60"/>
                <a:gd name="T23" fmla="*/ 4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26" y="44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8" y="22"/>
                    <a:pt x="48" y="22"/>
                    <a:pt x="48" y="22"/>
                  </a:cubicBezTo>
                  <a:lnTo>
                    <a:pt x="26" y="44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8319633" y="2186211"/>
              <a:ext cx="309880" cy="386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endParaRPr lang="zh-CN" alt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0" name="文本框 206"/>
            <p:cNvSpPr txBox="1">
              <a:spLocks noChangeArrowheads="1"/>
            </p:cNvSpPr>
            <p:nvPr/>
          </p:nvSpPr>
          <p:spPr bwMode="auto">
            <a:xfrm>
              <a:off x="8318998" y="2448466"/>
              <a:ext cx="2724785" cy="513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defTabSz="121666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I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lang="en-US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n files with the .html or .htm extension</a:t>
              </a:r>
              <a:endPara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32" name="组合 1031"/>
          <p:cNvGrpSpPr/>
          <p:nvPr/>
        </p:nvGrpSpPr>
        <p:grpSpPr>
          <a:xfrm>
            <a:off x="1102088" y="4188845"/>
            <a:ext cx="3576638" cy="971233"/>
            <a:chOff x="1199243" y="3865786"/>
            <a:chExt cx="3576638" cy="971233"/>
          </a:xfrm>
        </p:grpSpPr>
        <p:sp>
          <p:nvSpPr>
            <p:cNvPr id="207" name="Freeform 24"/>
            <p:cNvSpPr>
              <a:spLocks noChangeAspect="1" noEditPoints="1"/>
            </p:cNvSpPr>
            <p:nvPr/>
          </p:nvSpPr>
          <p:spPr bwMode="auto">
            <a:xfrm>
              <a:off x="1199243" y="3870549"/>
              <a:ext cx="358775" cy="358775"/>
            </a:xfrm>
            <a:custGeom>
              <a:avLst/>
              <a:gdLst>
                <a:gd name="T0" fmla="*/ 2147483646 w 60"/>
                <a:gd name="T1" fmla="*/ 0 h 60"/>
                <a:gd name="T2" fmla="*/ 0 w 60"/>
                <a:gd name="T3" fmla="*/ 2147483646 h 60"/>
                <a:gd name="T4" fmla="*/ 2147483646 w 60"/>
                <a:gd name="T5" fmla="*/ 2147483646 h 60"/>
                <a:gd name="T6" fmla="*/ 2147483646 w 60"/>
                <a:gd name="T7" fmla="*/ 2147483646 h 60"/>
                <a:gd name="T8" fmla="*/ 2147483646 w 60"/>
                <a:gd name="T9" fmla="*/ 0 h 60"/>
                <a:gd name="T10" fmla="*/ 2147483646 w 60"/>
                <a:gd name="T11" fmla="*/ 2147483646 h 60"/>
                <a:gd name="T12" fmla="*/ 2147483646 w 60"/>
                <a:gd name="T13" fmla="*/ 2147483646 h 60"/>
                <a:gd name="T14" fmla="*/ 2147483646 w 60"/>
                <a:gd name="T15" fmla="*/ 2147483646 h 60"/>
                <a:gd name="T16" fmla="*/ 2147483646 w 60"/>
                <a:gd name="T17" fmla="*/ 2147483646 h 60"/>
                <a:gd name="T18" fmla="*/ 2147483646 w 60"/>
                <a:gd name="T19" fmla="*/ 2147483646 h 60"/>
                <a:gd name="T20" fmla="*/ 2147483646 w 60"/>
                <a:gd name="T21" fmla="*/ 2147483646 h 60"/>
                <a:gd name="T22" fmla="*/ 2147483646 w 60"/>
                <a:gd name="T23" fmla="*/ 2147483646 h 6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26" y="44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8" y="22"/>
                    <a:pt x="48" y="22"/>
                    <a:pt x="48" y="22"/>
                  </a:cubicBezTo>
                  <a:lnTo>
                    <a:pt x="26" y="44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208" name="文本框 214"/>
            <p:cNvSpPr txBox="1">
              <a:spLocks noChangeArrowheads="1"/>
            </p:cNvSpPr>
            <p:nvPr/>
          </p:nvSpPr>
          <p:spPr bwMode="auto">
            <a:xfrm>
              <a:off x="1667556" y="3865786"/>
              <a:ext cx="1436370" cy="386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How it works</a:t>
              </a:r>
              <a:endParaRPr lang="en-US" altLang="en-US" sz="16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9" name="文本框 215"/>
            <p:cNvSpPr txBox="1">
              <a:spLocks noChangeArrowheads="1"/>
            </p:cNvSpPr>
            <p:nvPr/>
          </p:nvSpPr>
          <p:spPr bwMode="auto">
            <a:xfrm>
              <a:off x="1667556" y="4229324"/>
              <a:ext cx="3108325" cy="607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defTabSz="121666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Uses HTML elements, like tags and attributes, to mark up content</a:t>
              </a:r>
              <a:endPara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11" name="文本框 210"/>
          <p:cNvSpPr txBox="1"/>
          <p:nvPr/>
        </p:nvSpPr>
        <p:spPr>
          <a:xfrm>
            <a:off x="892175" y="200025"/>
            <a:ext cx="992886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b="1">
                <a:solidFill>
                  <a:schemeClr val="bg1"/>
                </a:solidFill>
                <a:cs typeface="+mn-ea"/>
                <a:sym typeface="+mn-lt"/>
              </a:rPr>
              <a:t>INTRODUCTION :- HTML</a:t>
            </a:r>
            <a:endParaRPr lang="en-IN" altLang="zh-CN" b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13" name="组合 212"/>
          <p:cNvGrpSpPr/>
          <p:nvPr>
            <p:custDataLst>
              <p:tags r:id="rId1"/>
            </p:custDataLst>
          </p:nvPr>
        </p:nvGrpSpPr>
        <p:grpSpPr>
          <a:xfrm>
            <a:off x="319026" y="372249"/>
            <a:ext cx="407472" cy="407472"/>
            <a:chOff x="-1828799" y="-88608"/>
            <a:chExt cx="754743" cy="754743"/>
          </a:xfrm>
        </p:grpSpPr>
        <p:sp>
          <p:nvSpPr>
            <p:cNvPr id="212" name="椭圆 211"/>
            <p:cNvSpPr/>
            <p:nvPr/>
          </p:nvSpPr>
          <p:spPr>
            <a:xfrm>
              <a:off x="-1828799" y="-88608"/>
              <a:ext cx="754743" cy="75474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7" name="椭圆 216"/>
            <p:cNvSpPr/>
            <p:nvPr/>
          </p:nvSpPr>
          <p:spPr>
            <a:xfrm>
              <a:off x="-1609562" y="130629"/>
              <a:ext cx="316268" cy="316268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31" name="组合 1030"/>
          <p:cNvGrpSpPr/>
          <p:nvPr/>
        </p:nvGrpSpPr>
        <p:grpSpPr>
          <a:xfrm>
            <a:off x="161653" y="2666855"/>
            <a:ext cx="3572782" cy="972820"/>
            <a:chOff x="1211943" y="2186211"/>
            <a:chExt cx="3572782" cy="972820"/>
          </a:xfrm>
        </p:grpSpPr>
        <p:sp>
          <p:nvSpPr>
            <p:cNvPr id="204" name="Freeform 24"/>
            <p:cNvSpPr>
              <a:spLocks noChangeAspect="1" noEditPoints="1"/>
            </p:cNvSpPr>
            <p:nvPr/>
          </p:nvSpPr>
          <p:spPr bwMode="auto">
            <a:xfrm>
              <a:off x="1211943" y="2190974"/>
              <a:ext cx="358775" cy="360362"/>
            </a:xfrm>
            <a:custGeom>
              <a:avLst/>
              <a:gdLst>
                <a:gd name="T0" fmla="*/ 2147483646 w 60"/>
                <a:gd name="T1" fmla="*/ 0 h 60"/>
                <a:gd name="T2" fmla="*/ 0 w 60"/>
                <a:gd name="T3" fmla="*/ 2147483646 h 60"/>
                <a:gd name="T4" fmla="*/ 2147483646 w 60"/>
                <a:gd name="T5" fmla="*/ 2147483646 h 60"/>
                <a:gd name="T6" fmla="*/ 2147483646 w 60"/>
                <a:gd name="T7" fmla="*/ 2147483646 h 60"/>
                <a:gd name="T8" fmla="*/ 2147483646 w 60"/>
                <a:gd name="T9" fmla="*/ 0 h 60"/>
                <a:gd name="T10" fmla="*/ 2147483646 w 60"/>
                <a:gd name="T11" fmla="*/ 2147483646 h 60"/>
                <a:gd name="T12" fmla="*/ 2147483646 w 60"/>
                <a:gd name="T13" fmla="*/ 2147483646 h 60"/>
                <a:gd name="T14" fmla="*/ 2147483646 w 60"/>
                <a:gd name="T15" fmla="*/ 2147483646 h 60"/>
                <a:gd name="T16" fmla="*/ 2147483646 w 60"/>
                <a:gd name="T17" fmla="*/ 2147483646 h 60"/>
                <a:gd name="T18" fmla="*/ 2147483646 w 60"/>
                <a:gd name="T19" fmla="*/ 2147483646 h 60"/>
                <a:gd name="T20" fmla="*/ 2147483646 w 60"/>
                <a:gd name="T21" fmla="*/ 2147483646 h 60"/>
                <a:gd name="T22" fmla="*/ 2147483646 w 60"/>
                <a:gd name="T23" fmla="*/ 2147483646 h 6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26" y="44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8" y="22"/>
                    <a:pt x="48" y="22"/>
                    <a:pt x="48" y="22"/>
                  </a:cubicBezTo>
                  <a:lnTo>
                    <a:pt x="26" y="44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205" name="文本框 211"/>
            <p:cNvSpPr txBox="1">
              <a:spLocks noChangeArrowheads="1"/>
            </p:cNvSpPr>
            <p:nvPr/>
          </p:nvSpPr>
          <p:spPr bwMode="auto">
            <a:xfrm>
              <a:off x="1680256" y="2186211"/>
              <a:ext cx="309880" cy="386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en-US" altLang="en-US" sz="16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" name="文本框 206"/>
            <p:cNvSpPr txBox="1">
              <a:spLocks noChangeArrowheads="1"/>
            </p:cNvSpPr>
            <p:nvPr/>
          </p:nvSpPr>
          <p:spPr bwMode="auto">
            <a:xfrm>
              <a:off x="1677988" y="2551336"/>
              <a:ext cx="3106737" cy="607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defTabSz="121666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A web browser reads the HTML in the files and displays it</a:t>
              </a:r>
              <a:endPara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29" name="Freeform 8"/>
          <p:cNvSpPr>
            <a:spLocks noEditPoints="1"/>
          </p:cNvSpPr>
          <p:nvPr/>
        </p:nvSpPr>
        <p:spPr bwMode="auto">
          <a:xfrm>
            <a:off x="4962677" y="2753925"/>
            <a:ext cx="2266646" cy="2264550"/>
          </a:xfrm>
          <a:custGeom>
            <a:avLst/>
            <a:gdLst>
              <a:gd name="T0" fmla="*/ 3681 w 4322"/>
              <a:gd name="T1" fmla="*/ 3676 h 4318"/>
              <a:gd name="T2" fmla="*/ 643 w 4322"/>
              <a:gd name="T3" fmla="*/ 642 h 4318"/>
              <a:gd name="T4" fmla="*/ 3681 w 4322"/>
              <a:gd name="T5" fmla="*/ 642 h 4318"/>
              <a:gd name="T6" fmla="*/ 450 w 4322"/>
              <a:gd name="T7" fmla="*/ 449 h 4318"/>
              <a:gd name="T8" fmla="*/ 3873 w 4322"/>
              <a:gd name="T9" fmla="*/ 3868 h 4318"/>
              <a:gd name="T10" fmla="*/ 2114 w 4322"/>
              <a:gd name="T11" fmla="*/ 1295 h 4318"/>
              <a:gd name="T12" fmla="*/ 1149 w 4322"/>
              <a:gd name="T13" fmla="*/ 3023 h 4318"/>
              <a:gd name="T14" fmla="*/ 2114 w 4322"/>
              <a:gd name="T15" fmla="*/ 1295 h 4318"/>
              <a:gd name="T16" fmla="*/ 2306 w 4322"/>
              <a:gd name="T17" fmla="*/ 1103 h 4318"/>
              <a:gd name="T18" fmla="*/ 956 w 4322"/>
              <a:gd name="T19" fmla="*/ 3215 h 4318"/>
              <a:gd name="T20" fmla="*/ 2306 w 4322"/>
              <a:gd name="T21" fmla="*/ 1103 h 4318"/>
              <a:gd name="T22" fmla="*/ 3173 w 4322"/>
              <a:gd name="T23" fmla="*/ 1825 h 4318"/>
              <a:gd name="T24" fmla="*/ 2787 w 4322"/>
              <a:gd name="T25" fmla="*/ 1295 h 4318"/>
              <a:gd name="T26" fmla="*/ 3173 w 4322"/>
              <a:gd name="T27" fmla="*/ 1295 h 4318"/>
              <a:gd name="T28" fmla="*/ 2594 w 4322"/>
              <a:gd name="T29" fmla="*/ 1103 h 4318"/>
              <a:gd name="T30" fmla="*/ 3366 w 4322"/>
              <a:gd name="T31" fmla="*/ 2017 h 4318"/>
              <a:gd name="T32" fmla="*/ 3173 w 4322"/>
              <a:gd name="T33" fmla="*/ 2499 h 4318"/>
              <a:gd name="T34" fmla="*/ 2787 w 4322"/>
              <a:gd name="T35" fmla="*/ 3023 h 4318"/>
              <a:gd name="T36" fmla="*/ 3173 w 4322"/>
              <a:gd name="T37" fmla="*/ 2499 h 4318"/>
              <a:gd name="T38" fmla="*/ 3366 w 4322"/>
              <a:gd name="T39" fmla="*/ 2306 h 4318"/>
              <a:gd name="T40" fmla="*/ 2594 w 4322"/>
              <a:gd name="T41" fmla="*/ 3215 h 4318"/>
              <a:gd name="T42" fmla="*/ 3366 w 4322"/>
              <a:gd name="T43" fmla="*/ 2306 h 4318"/>
              <a:gd name="T44" fmla="*/ 1207 w 4322"/>
              <a:gd name="T45" fmla="*/ 0 h 4318"/>
              <a:gd name="T46" fmla="*/ 1399 w 4322"/>
              <a:gd name="T47" fmla="*/ 481 h 4318"/>
              <a:gd name="T48" fmla="*/ 1970 w 4322"/>
              <a:gd name="T49" fmla="*/ 0 h 4318"/>
              <a:gd name="T50" fmla="*/ 1778 w 4322"/>
              <a:gd name="T51" fmla="*/ 481 h 4318"/>
              <a:gd name="T52" fmla="*/ 1970 w 4322"/>
              <a:gd name="T53" fmla="*/ 0 h 4318"/>
              <a:gd name="T54" fmla="*/ 2352 w 4322"/>
              <a:gd name="T55" fmla="*/ 0 h 4318"/>
              <a:gd name="T56" fmla="*/ 2545 w 4322"/>
              <a:gd name="T57" fmla="*/ 481 h 4318"/>
              <a:gd name="T58" fmla="*/ 3116 w 4322"/>
              <a:gd name="T59" fmla="*/ 0 h 4318"/>
              <a:gd name="T60" fmla="*/ 2923 w 4322"/>
              <a:gd name="T61" fmla="*/ 481 h 4318"/>
              <a:gd name="T62" fmla="*/ 3116 w 4322"/>
              <a:gd name="T63" fmla="*/ 0 h 4318"/>
              <a:gd name="T64" fmla="*/ 1207 w 4322"/>
              <a:gd name="T65" fmla="*/ 3837 h 4318"/>
              <a:gd name="T66" fmla="*/ 1399 w 4322"/>
              <a:gd name="T67" fmla="*/ 4318 h 4318"/>
              <a:gd name="T68" fmla="*/ 1970 w 4322"/>
              <a:gd name="T69" fmla="*/ 3837 h 4318"/>
              <a:gd name="T70" fmla="*/ 1778 w 4322"/>
              <a:gd name="T71" fmla="*/ 4318 h 4318"/>
              <a:gd name="T72" fmla="*/ 1970 w 4322"/>
              <a:gd name="T73" fmla="*/ 3837 h 4318"/>
              <a:gd name="T74" fmla="*/ 2352 w 4322"/>
              <a:gd name="T75" fmla="*/ 3837 h 4318"/>
              <a:gd name="T76" fmla="*/ 2545 w 4322"/>
              <a:gd name="T77" fmla="*/ 4318 h 4318"/>
              <a:gd name="T78" fmla="*/ 3116 w 4322"/>
              <a:gd name="T79" fmla="*/ 3837 h 4318"/>
              <a:gd name="T80" fmla="*/ 2923 w 4322"/>
              <a:gd name="T81" fmla="*/ 4318 h 4318"/>
              <a:gd name="T82" fmla="*/ 3116 w 4322"/>
              <a:gd name="T83" fmla="*/ 3837 h 4318"/>
              <a:gd name="T84" fmla="*/ 0 w 4322"/>
              <a:gd name="T85" fmla="*/ 2920 h 4318"/>
              <a:gd name="T86" fmla="*/ 482 w 4322"/>
              <a:gd name="T87" fmla="*/ 3113 h 4318"/>
              <a:gd name="T88" fmla="*/ 482 w 4322"/>
              <a:gd name="T89" fmla="*/ 2348 h 4318"/>
              <a:gd name="T90" fmla="*/ 0 w 4322"/>
              <a:gd name="T91" fmla="*/ 2541 h 4318"/>
              <a:gd name="T92" fmla="*/ 482 w 4322"/>
              <a:gd name="T93" fmla="*/ 2348 h 4318"/>
              <a:gd name="T94" fmla="*/ 0 w 4322"/>
              <a:gd name="T95" fmla="*/ 1777 h 4318"/>
              <a:gd name="T96" fmla="*/ 482 w 4322"/>
              <a:gd name="T97" fmla="*/ 1969 h 4318"/>
              <a:gd name="T98" fmla="*/ 482 w 4322"/>
              <a:gd name="T99" fmla="*/ 1205 h 4318"/>
              <a:gd name="T100" fmla="*/ 0 w 4322"/>
              <a:gd name="T101" fmla="*/ 1397 h 4318"/>
              <a:gd name="T102" fmla="*/ 482 w 4322"/>
              <a:gd name="T103" fmla="*/ 1205 h 4318"/>
              <a:gd name="T104" fmla="*/ 3840 w 4322"/>
              <a:gd name="T105" fmla="*/ 2920 h 4318"/>
              <a:gd name="T106" fmla="*/ 4322 w 4322"/>
              <a:gd name="T107" fmla="*/ 3113 h 4318"/>
              <a:gd name="T108" fmla="*/ 4322 w 4322"/>
              <a:gd name="T109" fmla="*/ 2348 h 4318"/>
              <a:gd name="T110" fmla="*/ 3840 w 4322"/>
              <a:gd name="T111" fmla="*/ 2541 h 4318"/>
              <a:gd name="T112" fmla="*/ 4322 w 4322"/>
              <a:gd name="T113" fmla="*/ 2348 h 4318"/>
              <a:gd name="T114" fmla="*/ 3840 w 4322"/>
              <a:gd name="T115" fmla="*/ 1777 h 4318"/>
              <a:gd name="T116" fmla="*/ 4322 w 4322"/>
              <a:gd name="T117" fmla="*/ 1969 h 4318"/>
              <a:gd name="T118" fmla="*/ 4322 w 4322"/>
              <a:gd name="T119" fmla="*/ 1205 h 4318"/>
              <a:gd name="T120" fmla="*/ 3840 w 4322"/>
              <a:gd name="T121" fmla="*/ 1397 h 4318"/>
              <a:gd name="T122" fmla="*/ 4322 w 4322"/>
              <a:gd name="T123" fmla="*/ 1205 h 4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322" h="4318">
                <a:moveTo>
                  <a:pt x="3681" y="642"/>
                </a:moveTo>
                <a:lnTo>
                  <a:pt x="3681" y="3676"/>
                </a:lnTo>
                <a:lnTo>
                  <a:pt x="643" y="3676"/>
                </a:lnTo>
                <a:lnTo>
                  <a:pt x="643" y="642"/>
                </a:lnTo>
                <a:lnTo>
                  <a:pt x="3681" y="642"/>
                </a:lnTo>
                <a:lnTo>
                  <a:pt x="3681" y="642"/>
                </a:lnTo>
                <a:close/>
                <a:moveTo>
                  <a:pt x="3873" y="449"/>
                </a:moveTo>
                <a:lnTo>
                  <a:pt x="450" y="449"/>
                </a:lnTo>
                <a:lnTo>
                  <a:pt x="450" y="3868"/>
                </a:lnTo>
                <a:lnTo>
                  <a:pt x="3873" y="3868"/>
                </a:lnTo>
                <a:lnTo>
                  <a:pt x="3873" y="449"/>
                </a:lnTo>
                <a:close/>
                <a:moveTo>
                  <a:pt x="2114" y="1295"/>
                </a:moveTo>
                <a:lnTo>
                  <a:pt x="2114" y="3023"/>
                </a:lnTo>
                <a:lnTo>
                  <a:pt x="1149" y="3023"/>
                </a:lnTo>
                <a:lnTo>
                  <a:pt x="1149" y="1295"/>
                </a:lnTo>
                <a:lnTo>
                  <a:pt x="2114" y="1295"/>
                </a:lnTo>
                <a:lnTo>
                  <a:pt x="2114" y="1295"/>
                </a:lnTo>
                <a:close/>
                <a:moveTo>
                  <a:pt x="2306" y="1103"/>
                </a:moveTo>
                <a:lnTo>
                  <a:pt x="956" y="1103"/>
                </a:lnTo>
                <a:lnTo>
                  <a:pt x="956" y="3215"/>
                </a:lnTo>
                <a:lnTo>
                  <a:pt x="2306" y="3215"/>
                </a:lnTo>
                <a:lnTo>
                  <a:pt x="2306" y="1103"/>
                </a:lnTo>
                <a:close/>
                <a:moveTo>
                  <a:pt x="3173" y="1295"/>
                </a:moveTo>
                <a:lnTo>
                  <a:pt x="3173" y="1825"/>
                </a:lnTo>
                <a:lnTo>
                  <a:pt x="2787" y="1825"/>
                </a:lnTo>
                <a:lnTo>
                  <a:pt x="2787" y="1295"/>
                </a:lnTo>
                <a:lnTo>
                  <a:pt x="3173" y="1295"/>
                </a:lnTo>
                <a:lnTo>
                  <a:pt x="3173" y="1295"/>
                </a:lnTo>
                <a:close/>
                <a:moveTo>
                  <a:pt x="3366" y="1103"/>
                </a:moveTo>
                <a:lnTo>
                  <a:pt x="2594" y="1103"/>
                </a:lnTo>
                <a:lnTo>
                  <a:pt x="2594" y="2017"/>
                </a:lnTo>
                <a:lnTo>
                  <a:pt x="3366" y="2017"/>
                </a:lnTo>
                <a:lnTo>
                  <a:pt x="3366" y="1103"/>
                </a:lnTo>
                <a:close/>
                <a:moveTo>
                  <a:pt x="3173" y="2499"/>
                </a:moveTo>
                <a:lnTo>
                  <a:pt x="3173" y="3023"/>
                </a:lnTo>
                <a:lnTo>
                  <a:pt x="2787" y="3023"/>
                </a:lnTo>
                <a:lnTo>
                  <a:pt x="2787" y="2499"/>
                </a:lnTo>
                <a:lnTo>
                  <a:pt x="3173" y="2499"/>
                </a:lnTo>
                <a:lnTo>
                  <a:pt x="3173" y="2499"/>
                </a:lnTo>
                <a:close/>
                <a:moveTo>
                  <a:pt x="3366" y="2306"/>
                </a:moveTo>
                <a:lnTo>
                  <a:pt x="2594" y="2306"/>
                </a:lnTo>
                <a:lnTo>
                  <a:pt x="2594" y="3215"/>
                </a:lnTo>
                <a:lnTo>
                  <a:pt x="3366" y="3215"/>
                </a:lnTo>
                <a:lnTo>
                  <a:pt x="3366" y="2306"/>
                </a:lnTo>
                <a:close/>
                <a:moveTo>
                  <a:pt x="1399" y="0"/>
                </a:moveTo>
                <a:lnTo>
                  <a:pt x="1207" y="0"/>
                </a:lnTo>
                <a:lnTo>
                  <a:pt x="1207" y="481"/>
                </a:lnTo>
                <a:lnTo>
                  <a:pt x="1399" y="481"/>
                </a:lnTo>
                <a:lnTo>
                  <a:pt x="1399" y="0"/>
                </a:lnTo>
                <a:close/>
                <a:moveTo>
                  <a:pt x="1970" y="0"/>
                </a:moveTo>
                <a:lnTo>
                  <a:pt x="1778" y="0"/>
                </a:lnTo>
                <a:lnTo>
                  <a:pt x="1778" y="481"/>
                </a:lnTo>
                <a:lnTo>
                  <a:pt x="1970" y="481"/>
                </a:lnTo>
                <a:lnTo>
                  <a:pt x="1970" y="0"/>
                </a:lnTo>
                <a:close/>
                <a:moveTo>
                  <a:pt x="2545" y="0"/>
                </a:moveTo>
                <a:lnTo>
                  <a:pt x="2352" y="0"/>
                </a:lnTo>
                <a:lnTo>
                  <a:pt x="2352" y="481"/>
                </a:lnTo>
                <a:lnTo>
                  <a:pt x="2545" y="481"/>
                </a:lnTo>
                <a:lnTo>
                  <a:pt x="2545" y="0"/>
                </a:lnTo>
                <a:close/>
                <a:moveTo>
                  <a:pt x="3116" y="0"/>
                </a:moveTo>
                <a:lnTo>
                  <a:pt x="2923" y="0"/>
                </a:lnTo>
                <a:lnTo>
                  <a:pt x="2923" y="481"/>
                </a:lnTo>
                <a:lnTo>
                  <a:pt x="3116" y="481"/>
                </a:lnTo>
                <a:lnTo>
                  <a:pt x="3116" y="0"/>
                </a:lnTo>
                <a:close/>
                <a:moveTo>
                  <a:pt x="1399" y="3837"/>
                </a:moveTo>
                <a:lnTo>
                  <a:pt x="1207" y="3837"/>
                </a:lnTo>
                <a:lnTo>
                  <a:pt x="1207" y="4318"/>
                </a:lnTo>
                <a:lnTo>
                  <a:pt x="1399" y="4318"/>
                </a:lnTo>
                <a:lnTo>
                  <a:pt x="1399" y="3837"/>
                </a:lnTo>
                <a:close/>
                <a:moveTo>
                  <a:pt x="1970" y="3837"/>
                </a:moveTo>
                <a:lnTo>
                  <a:pt x="1778" y="3837"/>
                </a:lnTo>
                <a:lnTo>
                  <a:pt x="1778" y="4318"/>
                </a:lnTo>
                <a:lnTo>
                  <a:pt x="1970" y="4318"/>
                </a:lnTo>
                <a:lnTo>
                  <a:pt x="1970" y="3837"/>
                </a:lnTo>
                <a:close/>
                <a:moveTo>
                  <a:pt x="2545" y="3837"/>
                </a:moveTo>
                <a:lnTo>
                  <a:pt x="2352" y="3837"/>
                </a:lnTo>
                <a:lnTo>
                  <a:pt x="2352" y="4318"/>
                </a:lnTo>
                <a:lnTo>
                  <a:pt x="2545" y="4318"/>
                </a:lnTo>
                <a:lnTo>
                  <a:pt x="2545" y="3837"/>
                </a:lnTo>
                <a:close/>
                <a:moveTo>
                  <a:pt x="3116" y="3837"/>
                </a:moveTo>
                <a:lnTo>
                  <a:pt x="2923" y="3837"/>
                </a:lnTo>
                <a:lnTo>
                  <a:pt x="2923" y="4318"/>
                </a:lnTo>
                <a:lnTo>
                  <a:pt x="3116" y="4318"/>
                </a:lnTo>
                <a:lnTo>
                  <a:pt x="3116" y="3837"/>
                </a:lnTo>
                <a:close/>
                <a:moveTo>
                  <a:pt x="482" y="2920"/>
                </a:moveTo>
                <a:lnTo>
                  <a:pt x="0" y="2920"/>
                </a:lnTo>
                <a:lnTo>
                  <a:pt x="0" y="3113"/>
                </a:lnTo>
                <a:lnTo>
                  <a:pt x="482" y="3113"/>
                </a:lnTo>
                <a:lnTo>
                  <a:pt x="482" y="2920"/>
                </a:lnTo>
                <a:close/>
                <a:moveTo>
                  <a:pt x="482" y="2348"/>
                </a:moveTo>
                <a:lnTo>
                  <a:pt x="0" y="2348"/>
                </a:lnTo>
                <a:lnTo>
                  <a:pt x="0" y="2541"/>
                </a:lnTo>
                <a:lnTo>
                  <a:pt x="482" y="2541"/>
                </a:lnTo>
                <a:lnTo>
                  <a:pt x="482" y="2348"/>
                </a:lnTo>
                <a:close/>
                <a:moveTo>
                  <a:pt x="482" y="1777"/>
                </a:moveTo>
                <a:lnTo>
                  <a:pt x="0" y="1777"/>
                </a:lnTo>
                <a:lnTo>
                  <a:pt x="0" y="1969"/>
                </a:lnTo>
                <a:lnTo>
                  <a:pt x="482" y="1969"/>
                </a:lnTo>
                <a:lnTo>
                  <a:pt x="482" y="1777"/>
                </a:lnTo>
                <a:close/>
                <a:moveTo>
                  <a:pt x="482" y="1205"/>
                </a:moveTo>
                <a:lnTo>
                  <a:pt x="0" y="1205"/>
                </a:lnTo>
                <a:lnTo>
                  <a:pt x="0" y="1397"/>
                </a:lnTo>
                <a:lnTo>
                  <a:pt x="482" y="1397"/>
                </a:lnTo>
                <a:lnTo>
                  <a:pt x="482" y="1205"/>
                </a:lnTo>
                <a:close/>
                <a:moveTo>
                  <a:pt x="4322" y="2920"/>
                </a:moveTo>
                <a:lnTo>
                  <a:pt x="3840" y="2920"/>
                </a:lnTo>
                <a:lnTo>
                  <a:pt x="3840" y="3113"/>
                </a:lnTo>
                <a:lnTo>
                  <a:pt x="4322" y="3113"/>
                </a:lnTo>
                <a:lnTo>
                  <a:pt x="4322" y="2920"/>
                </a:lnTo>
                <a:close/>
                <a:moveTo>
                  <a:pt x="4322" y="2348"/>
                </a:moveTo>
                <a:lnTo>
                  <a:pt x="3840" y="2348"/>
                </a:lnTo>
                <a:lnTo>
                  <a:pt x="3840" y="2541"/>
                </a:lnTo>
                <a:lnTo>
                  <a:pt x="4322" y="2541"/>
                </a:lnTo>
                <a:lnTo>
                  <a:pt x="4322" y="2348"/>
                </a:lnTo>
                <a:close/>
                <a:moveTo>
                  <a:pt x="4322" y="1777"/>
                </a:moveTo>
                <a:lnTo>
                  <a:pt x="3840" y="1777"/>
                </a:lnTo>
                <a:lnTo>
                  <a:pt x="3840" y="1969"/>
                </a:lnTo>
                <a:lnTo>
                  <a:pt x="4322" y="1969"/>
                </a:lnTo>
                <a:lnTo>
                  <a:pt x="4322" y="1777"/>
                </a:lnTo>
                <a:close/>
                <a:moveTo>
                  <a:pt x="4322" y="1205"/>
                </a:moveTo>
                <a:lnTo>
                  <a:pt x="3840" y="1205"/>
                </a:lnTo>
                <a:lnTo>
                  <a:pt x="3840" y="1397"/>
                </a:lnTo>
                <a:lnTo>
                  <a:pt x="4322" y="1397"/>
                </a:lnTo>
                <a:lnTo>
                  <a:pt x="4322" y="1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" name="组合 1033"/>
          <p:cNvGrpSpPr/>
          <p:nvPr/>
        </p:nvGrpSpPr>
        <p:grpSpPr>
          <a:xfrm>
            <a:off x="8061188" y="4405380"/>
            <a:ext cx="3576637" cy="712788"/>
            <a:chOff x="7837033" y="3865786"/>
            <a:chExt cx="3576637" cy="712788"/>
          </a:xfrm>
        </p:grpSpPr>
        <p:sp>
          <p:nvSpPr>
            <p:cNvPr id="5" name="Freeform 24"/>
            <p:cNvSpPr>
              <a:spLocks noChangeAspect="1" noEditPoints="1"/>
            </p:cNvSpPr>
            <p:nvPr/>
          </p:nvSpPr>
          <p:spPr bwMode="auto">
            <a:xfrm>
              <a:off x="7837033" y="3870549"/>
              <a:ext cx="360362" cy="358775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26 w 60"/>
                <a:gd name="T11" fmla="*/ 44 h 60"/>
                <a:gd name="T12" fmla="*/ 12 w 60"/>
                <a:gd name="T13" fmla="*/ 30 h 60"/>
                <a:gd name="T14" fmla="*/ 17 w 60"/>
                <a:gd name="T15" fmla="*/ 24 h 60"/>
                <a:gd name="T16" fmla="*/ 26 w 60"/>
                <a:gd name="T17" fmla="*/ 33 h 60"/>
                <a:gd name="T18" fmla="*/ 43 w 60"/>
                <a:gd name="T19" fmla="*/ 16 h 60"/>
                <a:gd name="T20" fmla="*/ 48 w 60"/>
                <a:gd name="T21" fmla="*/ 22 h 60"/>
                <a:gd name="T22" fmla="*/ 26 w 60"/>
                <a:gd name="T23" fmla="*/ 4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26" y="44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8" y="22"/>
                    <a:pt x="48" y="22"/>
                    <a:pt x="48" y="22"/>
                  </a:cubicBezTo>
                  <a:lnTo>
                    <a:pt x="26" y="44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6" name="文本框 201"/>
            <p:cNvSpPr txBox="1"/>
            <p:nvPr/>
          </p:nvSpPr>
          <p:spPr>
            <a:xfrm>
              <a:off x="8306933" y="3865786"/>
              <a:ext cx="1879600" cy="386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What it's used for</a:t>
              </a:r>
              <a:endParaRPr lang="en-US" alt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文本框 209"/>
            <p:cNvSpPr txBox="1">
              <a:spLocks noChangeArrowheads="1"/>
            </p:cNvSpPr>
            <p:nvPr/>
          </p:nvSpPr>
          <p:spPr bwMode="auto">
            <a:xfrm>
              <a:off x="8306933" y="4229324"/>
              <a:ext cx="3106737" cy="349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defTabSz="121666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Creating web pages and applications</a:t>
              </a:r>
              <a:endPara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" name="组合 1033"/>
          <p:cNvGrpSpPr/>
          <p:nvPr/>
        </p:nvGrpSpPr>
        <p:grpSpPr>
          <a:xfrm>
            <a:off x="2470013" y="1088140"/>
            <a:ext cx="3576637" cy="971233"/>
            <a:chOff x="7837033" y="3865786"/>
            <a:chExt cx="3576637" cy="971233"/>
          </a:xfrm>
        </p:grpSpPr>
        <p:sp>
          <p:nvSpPr>
            <p:cNvPr id="9" name="Freeform 24"/>
            <p:cNvSpPr>
              <a:spLocks noChangeAspect="1" noEditPoints="1"/>
            </p:cNvSpPr>
            <p:nvPr/>
          </p:nvSpPr>
          <p:spPr bwMode="auto">
            <a:xfrm>
              <a:off x="7837033" y="3870549"/>
              <a:ext cx="360362" cy="358775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26 w 60"/>
                <a:gd name="T11" fmla="*/ 44 h 60"/>
                <a:gd name="T12" fmla="*/ 12 w 60"/>
                <a:gd name="T13" fmla="*/ 30 h 60"/>
                <a:gd name="T14" fmla="*/ 17 w 60"/>
                <a:gd name="T15" fmla="*/ 24 h 60"/>
                <a:gd name="T16" fmla="*/ 26 w 60"/>
                <a:gd name="T17" fmla="*/ 33 h 60"/>
                <a:gd name="T18" fmla="*/ 43 w 60"/>
                <a:gd name="T19" fmla="*/ 16 h 60"/>
                <a:gd name="T20" fmla="*/ 48 w 60"/>
                <a:gd name="T21" fmla="*/ 22 h 60"/>
                <a:gd name="T22" fmla="*/ 26 w 60"/>
                <a:gd name="T23" fmla="*/ 4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26" y="44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8" y="22"/>
                    <a:pt x="48" y="22"/>
                    <a:pt x="48" y="22"/>
                  </a:cubicBezTo>
                  <a:lnTo>
                    <a:pt x="26" y="44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0" name="文本框 201"/>
            <p:cNvSpPr txBox="1"/>
            <p:nvPr/>
          </p:nvSpPr>
          <p:spPr>
            <a:xfrm>
              <a:off x="8306933" y="3865786"/>
              <a:ext cx="309880" cy="386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</a:pPr>
              <a:endParaRPr lang="zh-CN" alt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209"/>
            <p:cNvSpPr txBox="1">
              <a:spLocks noChangeArrowheads="1"/>
            </p:cNvSpPr>
            <p:nvPr/>
          </p:nvSpPr>
          <p:spPr bwMode="auto">
            <a:xfrm>
              <a:off x="8306933" y="4229324"/>
              <a:ext cx="3106737" cy="607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defTabSz="121666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Defines the structure and content of web pages</a:t>
              </a:r>
              <a:endPara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" name="组合 1033"/>
          <p:cNvGrpSpPr/>
          <p:nvPr/>
        </p:nvGrpSpPr>
        <p:grpSpPr>
          <a:xfrm>
            <a:off x="8061188" y="2753745"/>
            <a:ext cx="3576637" cy="712788"/>
            <a:chOff x="7837033" y="3865786"/>
            <a:chExt cx="3576637" cy="712788"/>
          </a:xfrm>
        </p:grpSpPr>
        <p:sp>
          <p:nvSpPr>
            <p:cNvPr id="13" name="Freeform 24"/>
            <p:cNvSpPr>
              <a:spLocks noChangeAspect="1" noEditPoints="1"/>
            </p:cNvSpPr>
            <p:nvPr/>
          </p:nvSpPr>
          <p:spPr bwMode="auto">
            <a:xfrm>
              <a:off x="7837033" y="3870549"/>
              <a:ext cx="360362" cy="358775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26 w 60"/>
                <a:gd name="T11" fmla="*/ 44 h 60"/>
                <a:gd name="T12" fmla="*/ 12 w 60"/>
                <a:gd name="T13" fmla="*/ 30 h 60"/>
                <a:gd name="T14" fmla="*/ 17 w 60"/>
                <a:gd name="T15" fmla="*/ 24 h 60"/>
                <a:gd name="T16" fmla="*/ 26 w 60"/>
                <a:gd name="T17" fmla="*/ 33 h 60"/>
                <a:gd name="T18" fmla="*/ 43 w 60"/>
                <a:gd name="T19" fmla="*/ 16 h 60"/>
                <a:gd name="T20" fmla="*/ 48 w 60"/>
                <a:gd name="T21" fmla="*/ 22 h 60"/>
                <a:gd name="T22" fmla="*/ 26 w 60"/>
                <a:gd name="T23" fmla="*/ 4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26" y="44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8" y="22"/>
                    <a:pt x="48" y="22"/>
                    <a:pt x="48" y="22"/>
                  </a:cubicBezTo>
                  <a:lnTo>
                    <a:pt x="26" y="44"/>
                  </a:lnTo>
                  <a:close/>
                </a:path>
              </a:pathLst>
            </a:custGeom>
            <a:solidFill>
              <a:schemeClr val="accent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" name="文本框 201"/>
            <p:cNvSpPr txBox="1"/>
            <p:nvPr/>
          </p:nvSpPr>
          <p:spPr>
            <a:xfrm>
              <a:off x="8306933" y="3865786"/>
              <a:ext cx="1957705" cy="3860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How it's enhanced</a:t>
              </a:r>
              <a:endParaRPr lang="en-US" alt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209"/>
            <p:cNvSpPr txBox="1">
              <a:spLocks noChangeArrowheads="1"/>
            </p:cNvSpPr>
            <p:nvPr/>
          </p:nvSpPr>
          <p:spPr bwMode="auto">
            <a:xfrm>
              <a:off x="8306933" y="4229324"/>
              <a:ext cx="3106737" cy="349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1pPr>
              <a:lvl2pPr marL="742950" indent="-28575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2pPr>
              <a:lvl3pPr marL="11430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3pPr>
              <a:lvl4pPr marL="16002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4pPr>
              <a:lvl5pPr marL="2057400" indent="-228600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125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Segoe UI" panose="020B0502040204020203" pitchFamily="34" charset="0"/>
                  <a:ea typeface="Microsoft YaHei" panose="020B0503020204020204" pitchFamily="34" charset="-122"/>
                </a:defRPr>
              </a:lvl9pPr>
            </a:lstStyle>
            <a:p>
              <a:pPr defTabSz="121666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Often used with CSS and JavaScript</a:t>
              </a:r>
              <a:endPara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aphicFrame>
        <p:nvGraphicFramePr>
          <p:cNvPr id="17" name="Table 16"/>
          <p:cNvGraphicFramePr/>
          <p:nvPr>
            <p:custDataLst>
              <p:tags r:id="rId2"/>
            </p:custDataLst>
          </p:nvPr>
        </p:nvGraphicFramePr>
        <p:xfrm>
          <a:off x="3044190" y="1008380"/>
          <a:ext cx="3002280" cy="363855"/>
        </p:xfrm>
        <a:graphic>
          <a:graphicData uri="http://schemas.openxmlformats.org/drawingml/2006/table">
            <a:tbl>
              <a:tblPr/>
              <a:tblGrid>
                <a:gridCol w="2794000"/>
                <a:gridCol w="208280"/>
              </a:tblGrid>
              <a:tr h="363855">
                <a:tc>
                  <a:txBody>
                    <a:bodyPr/>
                    <a:p>
                      <a:pPr fontAlgn="t">
                        <a:lnSpc>
                          <a:spcPts val="1200"/>
                        </a:lnSpc>
                      </a:pPr>
                      <a:r>
                        <a:rPr lang="en-US" altLang="zh-CN" sz="1600" b="0" i="0">
                          <a:solidFill>
                            <a:srgbClr val="EEF0FF"/>
                          </a:solidFill>
                          <a:ea typeface="Google Sans"/>
                          <a:cs typeface="+mn-lt"/>
                        </a:rPr>
                        <a:t>What it does</a:t>
                      </a:r>
                      <a:endParaRPr lang="en-US" altLang="zh-CN" sz="1600" b="0" i="0">
                        <a:solidFill>
                          <a:srgbClr val="EEF0FF"/>
                        </a:solidFill>
                        <a:ea typeface="Google Sans"/>
                        <a:cs typeface="+mn-lt"/>
                      </a:endParaRPr>
                    </a:p>
                  </a:txBody>
                  <a:tcPr marL="0" marR="76517" marT="91757" marB="9175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55F87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200"/>
                        </a:lnSpc>
                      </a:pPr>
                      <a:endParaRPr sz="1100" b="0" i="0">
                        <a:solidFill>
                          <a:srgbClr val="EEF0FF"/>
                        </a:solidFill>
                        <a:latin typeface="Google Sans"/>
                        <a:ea typeface="Google Sans"/>
                      </a:endParaRPr>
                    </a:p>
                  </a:txBody>
                  <a:tcPr marL="76517" marR="0" marT="91757" marB="9175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55F87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/>
          <p:nvPr>
            <p:custDataLst>
              <p:tags r:id="rId3"/>
            </p:custDataLst>
          </p:nvPr>
        </p:nvGraphicFramePr>
        <p:xfrm>
          <a:off x="8320405" y="1008380"/>
          <a:ext cx="2595245" cy="337185"/>
        </p:xfrm>
        <a:graphic>
          <a:graphicData uri="http://schemas.openxmlformats.org/drawingml/2006/table">
            <a:tbl>
              <a:tblPr/>
              <a:tblGrid>
                <a:gridCol w="2256790"/>
                <a:gridCol w="338455"/>
              </a:tblGrid>
              <a:tr h="337185">
                <a:tc>
                  <a:txBody>
                    <a:bodyPr/>
                    <a:p>
                      <a:pPr fontAlgn="t">
                        <a:lnSpc>
                          <a:spcPts val="1200"/>
                        </a:lnSpc>
                      </a:pPr>
                      <a:r>
                        <a:rPr lang="en-IN" altLang="en-US" sz="1600" b="0" i="0">
                          <a:solidFill>
                            <a:srgbClr val="EEF0FF"/>
                          </a:solidFill>
                          <a:ea typeface="Google Sans"/>
                          <a:cs typeface="+mn-lt"/>
                        </a:rPr>
                        <a:t>H</a:t>
                      </a:r>
                      <a:r>
                        <a:rPr lang="en-US" altLang="zh-CN" sz="1600" b="0" i="0">
                          <a:solidFill>
                            <a:srgbClr val="EEF0FF"/>
                          </a:solidFill>
                          <a:ea typeface="Google Sans"/>
                          <a:cs typeface="+mn-lt"/>
                        </a:rPr>
                        <a:t>ow it's stored</a:t>
                      </a:r>
                      <a:endParaRPr lang="en-US" altLang="zh-CN" sz="1600" b="0" i="0">
                        <a:solidFill>
                          <a:srgbClr val="EEF0FF"/>
                        </a:solidFill>
                        <a:ea typeface="Google Sans"/>
                        <a:cs typeface="+mn-lt"/>
                      </a:endParaRPr>
                    </a:p>
                  </a:txBody>
                  <a:tcPr marL="0" marR="76517" marT="91757" marB="9175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55F87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200"/>
                        </a:lnSpc>
                      </a:pPr>
                      <a:endParaRPr sz="1100" b="0" i="0">
                        <a:solidFill>
                          <a:srgbClr val="EEF0FF"/>
                        </a:solidFill>
                        <a:latin typeface="Google Sans"/>
                        <a:ea typeface="Google Sans"/>
                      </a:endParaRPr>
                    </a:p>
                  </a:txBody>
                  <a:tcPr marL="76517" marR="0" marT="91757" marB="9175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55F87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4498340" y="2414905"/>
            <a:ext cx="40640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endParaRPr lang="en-US" sz="1400" dirty="0" smtClean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939800" y="2642235"/>
            <a:ext cx="1802765" cy="4108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600" dirty="0" smtClean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How it's displayed</a:t>
            </a:r>
            <a:endParaRPr lang="en-US" altLang="en-US" sz="1600" dirty="0" smtClean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24840" y="5692775"/>
            <a:ext cx="11300460" cy="92710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l">
              <a:lnSpc>
                <a:spcPct val="130000"/>
              </a:lnSpc>
            </a:pPr>
            <a:r>
              <a:rPr lang="en-US" altLang="en-US" sz="1800" dirty="0" smtClean="0">
                <a:latin typeface="Bahnschrift Light SemiCondensed" panose="020B0502040204020203" charset="0"/>
                <a:ea typeface="Microsoft YaHei" panose="020B0503020204020204" pitchFamily="34" charset="-122"/>
                <a:cs typeface="Bahnschrift Light SemiCondensed" panose="020B0502040204020203" charset="0"/>
              </a:rPr>
              <a:t> </a:t>
            </a:r>
            <a:r>
              <a:rPr lang="en-IN" altLang="en-US" sz="1800" dirty="0" smtClean="0">
                <a:solidFill>
                  <a:schemeClr val="bg1"/>
                </a:solidFill>
                <a:latin typeface="Bahnschrift Light SemiCondensed" panose="020B0502040204020203" charset="0"/>
                <a:ea typeface="Microsoft YaHei" panose="020B0503020204020204" pitchFamily="34" charset="-122"/>
                <a:cs typeface="Bahnschrift Light SemiCondensed" panose="020B0502040204020203" charset="0"/>
              </a:rPr>
              <a:t>It </a:t>
            </a:r>
            <a:r>
              <a:rPr lang="en-US" altLang="en-US" sz="1800" dirty="0" smtClean="0">
                <a:solidFill>
                  <a:schemeClr val="bg1"/>
                </a:solidFill>
                <a:latin typeface="Bahnschrift Light SemiCondensed" panose="020B0502040204020203" charset="0"/>
                <a:ea typeface="Microsoft YaHei" panose="020B0503020204020204" pitchFamily="34" charset="-122"/>
                <a:cs typeface="Bahnschrift Light SemiCondensed" panose="020B0502040204020203" charset="0"/>
              </a:rPr>
              <a:t>is the standard markup language for creating web pages. It's used to structure content, like paragraphs,</a:t>
            </a:r>
            <a:endParaRPr lang="en-US" altLang="en-US" sz="1800" dirty="0" smtClean="0">
              <a:solidFill>
                <a:schemeClr val="bg1"/>
              </a:solidFill>
              <a:latin typeface="Bahnschrift Light SemiCondensed" panose="020B0502040204020203" charset="0"/>
              <a:ea typeface="Microsoft YaHei" panose="020B0503020204020204" pitchFamily="34" charset="-122"/>
              <a:cs typeface="Bahnschrift Light SemiCondensed" panose="020B0502040204020203" charset="0"/>
            </a:endParaRPr>
          </a:p>
          <a:p>
            <a:pPr algn="l">
              <a:lnSpc>
                <a:spcPct val="130000"/>
              </a:lnSpc>
            </a:pPr>
            <a:r>
              <a:rPr lang="en-US" altLang="en-US" sz="1800" dirty="0" smtClean="0">
                <a:solidFill>
                  <a:schemeClr val="bg1"/>
                </a:solidFill>
                <a:latin typeface="Bahnschrift Light SemiCondensed" panose="020B0502040204020203" charset="0"/>
                <a:ea typeface="Microsoft YaHei" panose="020B0503020204020204" pitchFamily="34" charset="-122"/>
                <a:cs typeface="Bahnschrift Light SemiCondensed" panose="020B0502040204020203" charset="0"/>
              </a:rPr>
              <a:t> headings, links, and images, on a web page.</a:t>
            </a:r>
            <a:endParaRPr lang="en-US" altLang="en-US" sz="1800" dirty="0" smtClean="0">
              <a:solidFill>
                <a:schemeClr val="bg1"/>
              </a:solidFill>
              <a:latin typeface="Bahnschrift Light SemiCondensed" panose="020B0502040204020203" charset="0"/>
              <a:ea typeface="Microsoft YaHei" panose="020B0503020204020204" pitchFamily="34" charset="-122"/>
              <a:cs typeface="Bahnschrift Light SemiCondensed" panose="020B05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095500" y="4958669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57700" y="4958669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19900" y="4958669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182100" y="4958669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 11"/>
          <p:cNvSpPr/>
          <p:nvPr/>
        </p:nvSpPr>
        <p:spPr>
          <a:xfrm>
            <a:off x="1563688" y="1940831"/>
            <a:ext cx="1979612" cy="2827338"/>
          </a:xfrm>
          <a:custGeom>
            <a:avLst/>
            <a:gdLst>
              <a:gd name="connsiteX0" fmla="*/ 127235 w 1980000"/>
              <a:gd name="connsiteY0" fmla="*/ 0 h 2827279"/>
              <a:gd name="connsiteX1" fmla="*/ 1852765 w 1980000"/>
              <a:gd name="connsiteY1" fmla="*/ 0 h 2827279"/>
              <a:gd name="connsiteX2" fmla="*/ 1980000 w 1980000"/>
              <a:gd name="connsiteY2" fmla="*/ 127235 h 2827279"/>
              <a:gd name="connsiteX3" fmla="*/ 1980000 w 1980000"/>
              <a:gd name="connsiteY3" fmla="*/ 2572765 h 2827279"/>
              <a:gd name="connsiteX4" fmla="*/ 1852765 w 1980000"/>
              <a:gd name="connsiteY4" fmla="*/ 2700000 h 2827279"/>
              <a:gd name="connsiteX5" fmla="*/ 1117279 w 1980000"/>
              <a:gd name="connsiteY5" fmla="*/ 2700000 h 2827279"/>
              <a:gd name="connsiteX6" fmla="*/ 990000 w 1980000"/>
              <a:gd name="connsiteY6" fmla="*/ 2827279 h 2827279"/>
              <a:gd name="connsiteX7" fmla="*/ 862721 w 1980000"/>
              <a:gd name="connsiteY7" fmla="*/ 2700000 h 2827279"/>
              <a:gd name="connsiteX8" fmla="*/ 127235 w 1980000"/>
              <a:gd name="connsiteY8" fmla="*/ 2700000 h 2827279"/>
              <a:gd name="connsiteX9" fmla="*/ 0 w 1980000"/>
              <a:gd name="connsiteY9" fmla="*/ 2572765 h 2827279"/>
              <a:gd name="connsiteX10" fmla="*/ 0 w 1980000"/>
              <a:gd name="connsiteY10" fmla="*/ 127235 h 2827279"/>
              <a:gd name="connsiteX11" fmla="*/ 127235 w 1980000"/>
              <a:gd name="connsiteY11" fmla="*/ 0 h 282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80000" h="2827279">
                <a:moveTo>
                  <a:pt x="127235" y="0"/>
                </a:moveTo>
                <a:lnTo>
                  <a:pt x="1852765" y="0"/>
                </a:lnTo>
                <a:cubicBezTo>
                  <a:pt x="1923035" y="0"/>
                  <a:pt x="1980000" y="56965"/>
                  <a:pt x="1980000" y="127235"/>
                </a:cubicBezTo>
                <a:lnTo>
                  <a:pt x="1980000" y="2572765"/>
                </a:lnTo>
                <a:cubicBezTo>
                  <a:pt x="1980000" y="2643035"/>
                  <a:pt x="1923035" y="2700000"/>
                  <a:pt x="1852765" y="2700000"/>
                </a:cubicBezTo>
                <a:lnTo>
                  <a:pt x="1117279" y="2700000"/>
                </a:lnTo>
                <a:lnTo>
                  <a:pt x="990000" y="2827279"/>
                </a:lnTo>
                <a:lnTo>
                  <a:pt x="862721" y="2700000"/>
                </a:lnTo>
                <a:lnTo>
                  <a:pt x="127235" y="2700000"/>
                </a:lnTo>
                <a:cubicBezTo>
                  <a:pt x="56965" y="2700000"/>
                  <a:pt x="0" y="2643035"/>
                  <a:pt x="0" y="2572765"/>
                </a:cubicBezTo>
                <a:lnTo>
                  <a:pt x="0" y="127235"/>
                </a:lnTo>
                <a:cubicBezTo>
                  <a:pt x="0" y="56965"/>
                  <a:pt x="56965" y="0"/>
                  <a:pt x="127235" y="0"/>
                </a:cubicBezTo>
                <a:close/>
              </a:path>
            </a:pathLst>
          </a:custGeom>
          <a:noFill/>
          <a:ln>
            <a:solidFill>
              <a:srgbClr val="FFFFFF">
                <a:alpha val="60000"/>
              </a:srgb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任意多边形 12"/>
          <p:cNvSpPr/>
          <p:nvPr/>
        </p:nvSpPr>
        <p:spPr>
          <a:xfrm>
            <a:off x="3925888" y="1940831"/>
            <a:ext cx="1979612" cy="2827338"/>
          </a:xfrm>
          <a:custGeom>
            <a:avLst/>
            <a:gdLst>
              <a:gd name="connsiteX0" fmla="*/ 127235 w 1980000"/>
              <a:gd name="connsiteY0" fmla="*/ 0 h 2827279"/>
              <a:gd name="connsiteX1" fmla="*/ 1852765 w 1980000"/>
              <a:gd name="connsiteY1" fmla="*/ 0 h 2827279"/>
              <a:gd name="connsiteX2" fmla="*/ 1980000 w 1980000"/>
              <a:gd name="connsiteY2" fmla="*/ 127235 h 2827279"/>
              <a:gd name="connsiteX3" fmla="*/ 1980000 w 1980000"/>
              <a:gd name="connsiteY3" fmla="*/ 2572765 h 2827279"/>
              <a:gd name="connsiteX4" fmla="*/ 1852765 w 1980000"/>
              <a:gd name="connsiteY4" fmla="*/ 2700000 h 2827279"/>
              <a:gd name="connsiteX5" fmla="*/ 1117279 w 1980000"/>
              <a:gd name="connsiteY5" fmla="*/ 2700000 h 2827279"/>
              <a:gd name="connsiteX6" fmla="*/ 990000 w 1980000"/>
              <a:gd name="connsiteY6" fmla="*/ 2827279 h 2827279"/>
              <a:gd name="connsiteX7" fmla="*/ 862721 w 1980000"/>
              <a:gd name="connsiteY7" fmla="*/ 2700000 h 2827279"/>
              <a:gd name="connsiteX8" fmla="*/ 127235 w 1980000"/>
              <a:gd name="connsiteY8" fmla="*/ 2700000 h 2827279"/>
              <a:gd name="connsiteX9" fmla="*/ 0 w 1980000"/>
              <a:gd name="connsiteY9" fmla="*/ 2572765 h 2827279"/>
              <a:gd name="connsiteX10" fmla="*/ 0 w 1980000"/>
              <a:gd name="connsiteY10" fmla="*/ 127235 h 2827279"/>
              <a:gd name="connsiteX11" fmla="*/ 127235 w 1980000"/>
              <a:gd name="connsiteY11" fmla="*/ 0 h 282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80000" h="2827279">
                <a:moveTo>
                  <a:pt x="127235" y="0"/>
                </a:moveTo>
                <a:lnTo>
                  <a:pt x="1852765" y="0"/>
                </a:lnTo>
                <a:cubicBezTo>
                  <a:pt x="1923035" y="0"/>
                  <a:pt x="1980000" y="56965"/>
                  <a:pt x="1980000" y="127235"/>
                </a:cubicBezTo>
                <a:lnTo>
                  <a:pt x="1980000" y="2572765"/>
                </a:lnTo>
                <a:cubicBezTo>
                  <a:pt x="1980000" y="2643035"/>
                  <a:pt x="1923035" y="2700000"/>
                  <a:pt x="1852765" y="2700000"/>
                </a:cubicBezTo>
                <a:lnTo>
                  <a:pt x="1117279" y="2700000"/>
                </a:lnTo>
                <a:lnTo>
                  <a:pt x="990000" y="2827279"/>
                </a:lnTo>
                <a:lnTo>
                  <a:pt x="862721" y="2700000"/>
                </a:lnTo>
                <a:lnTo>
                  <a:pt x="127235" y="2700000"/>
                </a:lnTo>
                <a:cubicBezTo>
                  <a:pt x="56965" y="2700000"/>
                  <a:pt x="0" y="2643035"/>
                  <a:pt x="0" y="2572765"/>
                </a:cubicBezTo>
                <a:lnTo>
                  <a:pt x="0" y="127235"/>
                </a:lnTo>
                <a:cubicBezTo>
                  <a:pt x="0" y="56965"/>
                  <a:pt x="56965" y="0"/>
                  <a:pt x="127235" y="0"/>
                </a:cubicBezTo>
                <a:close/>
              </a:path>
            </a:pathLst>
          </a:custGeom>
          <a:noFill/>
          <a:ln>
            <a:solidFill>
              <a:srgbClr val="FFFFFF">
                <a:alpha val="60000"/>
              </a:srgb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任意多边形 13"/>
          <p:cNvSpPr/>
          <p:nvPr/>
        </p:nvSpPr>
        <p:spPr>
          <a:xfrm>
            <a:off x="6286500" y="1940831"/>
            <a:ext cx="1979613" cy="2827338"/>
          </a:xfrm>
          <a:custGeom>
            <a:avLst/>
            <a:gdLst>
              <a:gd name="connsiteX0" fmla="*/ 127235 w 1980000"/>
              <a:gd name="connsiteY0" fmla="*/ 0 h 2827279"/>
              <a:gd name="connsiteX1" fmla="*/ 1852765 w 1980000"/>
              <a:gd name="connsiteY1" fmla="*/ 0 h 2827279"/>
              <a:gd name="connsiteX2" fmla="*/ 1980000 w 1980000"/>
              <a:gd name="connsiteY2" fmla="*/ 127235 h 2827279"/>
              <a:gd name="connsiteX3" fmla="*/ 1980000 w 1980000"/>
              <a:gd name="connsiteY3" fmla="*/ 2572765 h 2827279"/>
              <a:gd name="connsiteX4" fmla="*/ 1852765 w 1980000"/>
              <a:gd name="connsiteY4" fmla="*/ 2700000 h 2827279"/>
              <a:gd name="connsiteX5" fmla="*/ 1117279 w 1980000"/>
              <a:gd name="connsiteY5" fmla="*/ 2700000 h 2827279"/>
              <a:gd name="connsiteX6" fmla="*/ 990000 w 1980000"/>
              <a:gd name="connsiteY6" fmla="*/ 2827279 h 2827279"/>
              <a:gd name="connsiteX7" fmla="*/ 862721 w 1980000"/>
              <a:gd name="connsiteY7" fmla="*/ 2700000 h 2827279"/>
              <a:gd name="connsiteX8" fmla="*/ 127235 w 1980000"/>
              <a:gd name="connsiteY8" fmla="*/ 2700000 h 2827279"/>
              <a:gd name="connsiteX9" fmla="*/ 0 w 1980000"/>
              <a:gd name="connsiteY9" fmla="*/ 2572765 h 2827279"/>
              <a:gd name="connsiteX10" fmla="*/ 0 w 1980000"/>
              <a:gd name="connsiteY10" fmla="*/ 127235 h 2827279"/>
              <a:gd name="connsiteX11" fmla="*/ 127235 w 1980000"/>
              <a:gd name="connsiteY11" fmla="*/ 0 h 282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80000" h="2827279">
                <a:moveTo>
                  <a:pt x="127235" y="0"/>
                </a:moveTo>
                <a:lnTo>
                  <a:pt x="1852765" y="0"/>
                </a:lnTo>
                <a:cubicBezTo>
                  <a:pt x="1923035" y="0"/>
                  <a:pt x="1980000" y="56965"/>
                  <a:pt x="1980000" y="127235"/>
                </a:cubicBezTo>
                <a:lnTo>
                  <a:pt x="1980000" y="2572765"/>
                </a:lnTo>
                <a:cubicBezTo>
                  <a:pt x="1980000" y="2643035"/>
                  <a:pt x="1923035" y="2700000"/>
                  <a:pt x="1852765" y="2700000"/>
                </a:cubicBezTo>
                <a:lnTo>
                  <a:pt x="1117279" y="2700000"/>
                </a:lnTo>
                <a:lnTo>
                  <a:pt x="990000" y="2827279"/>
                </a:lnTo>
                <a:lnTo>
                  <a:pt x="862721" y="2700000"/>
                </a:lnTo>
                <a:lnTo>
                  <a:pt x="127235" y="2700000"/>
                </a:lnTo>
                <a:cubicBezTo>
                  <a:pt x="56965" y="2700000"/>
                  <a:pt x="0" y="2643035"/>
                  <a:pt x="0" y="2572765"/>
                </a:cubicBezTo>
                <a:lnTo>
                  <a:pt x="0" y="127235"/>
                </a:lnTo>
                <a:cubicBezTo>
                  <a:pt x="0" y="56965"/>
                  <a:pt x="56965" y="0"/>
                  <a:pt x="127235" y="0"/>
                </a:cubicBezTo>
                <a:close/>
              </a:path>
            </a:pathLst>
          </a:custGeom>
          <a:noFill/>
          <a:ln>
            <a:solidFill>
              <a:srgbClr val="FFFFFF">
                <a:alpha val="60000"/>
              </a:srgb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任意多边形 14"/>
          <p:cNvSpPr/>
          <p:nvPr/>
        </p:nvSpPr>
        <p:spPr>
          <a:xfrm>
            <a:off x="8648700" y="1940831"/>
            <a:ext cx="1979613" cy="2827338"/>
          </a:xfrm>
          <a:custGeom>
            <a:avLst/>
            <a:gdLst>
              <a:gd name="connsiteX0" fmla="*/ 127235 w 1980000"/>
              <a:gd name="connsiteY0" fmla="*/ 0 h 2827279"/>
              <a:gd name="connsiteX1" fmla="*/ 1852765 w 1980000"/>
              <a:gd name="connsiteY1" fmla="*/ 0 h 2827279"/>
              <a:gd name="connsiteX2" fmla="*/ 1980000 w 1980000"/>
              <a:gd name="connsiteY2" fmla="*/ 127235 h 2827279"/>
              <a:gd name="connsiteX3" fmla="*/ 1980000 w 1980000"/>
              <a:gd name="connsiteY3" fmla="*/ 2572765 h 2827279"/>
              <a:gd name="connsiteX4" fmla="*/ 1852765 w 1980000"/>
              <a:gd name="connsiteY4" fmla="*/ 2700000 h 2827279"/>
              <a:gd name="connsiteX5" fmla="*/ 1117279 w 1980000"/>
              <a:gd name="connsiteY5" fmla="*/ 2700000 h 2827279"/>
              <a:gd name="connsiteX6" fmla="*/ 990000 w 1980000"/>
              <a:gd name="connsiteY6" fmla="*/ 2827279 h 2827279"/>
              <a:gd name="connsiteX7" fmla="*/ 862721 w 1980000"/>
              <a:gd name="connsiteY7" fmla="*/ 2700000 h 2827279"/>
              <a:gd name="connsiteX8" fmla="*/ 127235 w 1980000"/>
              <a:gd name="connsiteY8" fmla="*/ 2700000 h 2827279"/>
              <a:gd name="connsiteX9" fmla="*/ 0 w 1980000"/>
              <a:gd name="connsiteY9" fmla="*/ 2572765 h 2827279"/>
              <a:gd name="connsiteX10" fmla="*/ 0 w 1980000"/>
              <a:gd name="connsiteY10" fmla="*/ 127235 h 2827279"/>
              <a:gd name="connsiteX11" fmla="*/ 127235 w 1980000"/>
              <a:gd name="connsiteY11" fmla="*/ 0 h 282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80000" h="2827279">
                <a:moveTo>
                  <a:pt x="127235" y="0"/>
                </a:moveTo>
                <a:lnTo>
                  <a:pt x="1852765" y="0"/>
                </a:lnTo>
                <a:cubicBezTo>
                  <a:pt x="1923035" y="0"/>
                  <a:pt x="1980000" y="56965"/>
                  <a:pt x="1980000" y="127235"/>
                </a:cubicBezTo>
                <a:lnTo>
                  <a:pt x="1980000" y="2572765"/>
                </a:lnTo>
                <a:cubicBezTo>
                  <a:pt x="1980000" y="2643035"/>
                  <a:pt x="1923035" y="2700000"/>
                  <a:pt x="1852765" y="2700000"/>
                </a:cubicBezTo>
                <a:lnTo>
                  <a:pt x="1117279" y="2700000"/>
                </a:lnTo>
                <a:lnTo>
                  <a:pt x="990000" y="2827279"/>
                </a:lnTo>
                <a:lnTo>
                  <a:pt x="862721" y="2700000"/>
                </a:lnTo>
                <a:lnTo>
                  <a:pt x="127235" y="2700000"/>
                </a:lnTo>
                <a:cubicBezTo>
                  <a:pt x="56965" y="2700000"/>
                  <a:pt x="0" y="2643035"/>
                  <a:pt x="0" y="2572765"/>
                </a:cubicBezTo>
                <a:lnTo>
                  <a:pt x="0" y="127235"/>
                </a:lnTo>
                <a:cubicBezTo>
                  <a:pt x="0" y="56965"/>
                  <a:pt x="56965" y="0"/>
                  <a:pt x="127235" y="0"/>
                </a:cubicBezTo>
                <a:close/>
              </a:path>
            </a:pathLst>
          </a:custGeom>
          <a:noFill/>
          <a:ln>
            <a:solidFill>
              <a:srgbClr val="FFFFFF">
                <a:alpha val="60000"/>
              </a:srgb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文本框 37"/>
          <p:cNvSpPr txBox="1">
            <a:spLocks noChangeArrowheads="1"/>
          </p:cNvSpPr>
          <p:nvPr/>
        </p:nvSpPr>
        <p:spPr bwMode="auto">
          <a:xfrm>
            <a:off x="1838325" y="2259330"/>
            <a:ext cx="1428750" cy="2345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9pPr>
          </a:lstStyle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It's a language used to describe the look and formatting of a website written in HTML.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7"/>
          <p:cNvSpPr txBox="1">
            <a:spLocks noChangeArrowheads="1"/>
          </p:cNvSpPr>
          <p:nvPr/>
        </p:nvSpPr>
        <p:spPr bwMode="auto">
          <a:xfrm>
            <a:off x="4115435" y="2142490"/>
            <a:ext cx="169418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9pPr>
          </a:lstStyle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CSS Ca</a:t>
            </a:r>
            <a:r>
              <a:rPr lang="en-I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n :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I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- </a:t>
            </a: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Set colors, fonts, and sizes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I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Create layouts 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I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-    </a:t>
            </a: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Add spacing 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I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-      </a:t>
            </a: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Make sites responsive 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IN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- </a:t>
            </a: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Add animations and transitions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文本框 37"/>
          <p:cNvSpPr txBox="1">
            <a:spLocks noChangeArrowheads="1"/>
          </p:cNvSpPr>
          <p:nvPr/>
        </p:nvSpPr>
        <p:spPr bwMode="auto">
          <a:xfrm>
            <a:off x="6562090" y="2338070"/>
            <a:ext cx="1428750" cy="2266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9pPr>
          </a:lstStyle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CSS allows you to apply the same styles across multiple pages with a single stylesheet.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37"/>
          <p:cNvSpPr txBox="1">
            <a:spLocks noChangeArrowheads="1"/>
          </p:cNvSpPr>
          <p:nvPr/>
        </p:nvSpPr>
        <p:spPr bwMode="auto">
          <a:xfrm>
            <a:off x="8924290" y="2259330"/>
            <a:ext cx="1428750" cy="2248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9pPr>
          </a:lstStyle>
          <a:p>
            <a:pPr algn="ctr" defTabSz="121666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en-US" sz="1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CSS supports responsive layouts that adapt to different screen sizes (mobile, tablet, desktop).</a:t>
            </a:r>
            <a:endParaRPr lang="en-US" altLang="en-US" sz="1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8" name="文本框 212"/>
          <p:cNvSpPr txBox="1">
            <a:spLocks noChangeArrowheads="1"/>
          </p:cNvSpPr>
          <p:nvPr/>
        </p:nvSpPr>
        <p:spPr bwMode="auto">
          <a:xfrm>
            <a:off x="898642" y="632764"/>
            <a:ext cx="7180146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en-US" altLang="zh-CN" sz="14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+mn-lt"/>
              </a:rPr>
              <a:t> </a:t>
            </a:r>
            <a:endParaRPr lang="zh-CN" altLang="en-US" sz="14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+mn-lt"/>
            </a:endParaRPr>
          </a:p>
        </p:txBody>
      </p:sp>
      <p:grpSp>
        <p:nvGrpSpPr>
          <p:cNvPr id="43" name="组合 42"/>
          <p:cNvGrpSpPr/>
          <p:nvPr>
            <p:custDataLst>
              <p:tags r:id="rId1"/>
            </p:custDataLst>
          </p:nvPr>
        </p:nvGrpSpPr>
        <p:grpSpPr>
          <a:xfrm>
            <a:off x="319026" y="372249"/>
            <a:ext cx="407472" cy="407472"/>
            <a:chOff x="-1828799" y="-88608"/>
            <a:chExt cx="754743" cy="754743"/>
          </a:xfrm>
        </p:grpSpPr>
        <p:sp>
          <p:nvSpPr>
            <p:cNvPr id="44" name="椭圆 43"/>
            <p:cNvSpPr/>
            <p:nvPr/>
          </p:nvSpPr>
          <p:spPr>
            <a:xfrm>
              <a:off x="-1828799" y="-88608"/>
              <a:ext cx="754743" cy="75474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-1609562" y="130629"/>
              <a:ext cx="316268" cy="316268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5" name="Text Box 34"/>
          <p:cNvSpPr txBox="1"/>
          <p:nvPr/>
        </p:nvSpPr>
        <p:spPr>
          <a:xfrm>
            <a:off x="819785" y="372110"/>
            <a:ext cx="406400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IN" altLang="en-US" b="1" dirty="0" smtClean="0">
                <a:solidFill>
                  <a:schemeClr val="bg1"/>
                </a:solidFill>
                <a:ea typeface="Microsoft YaHei" panose="020B0503020204020204" pitchFamily="34" charset="-122"/>
                <a:cs typeface="+mn-lt"/>
              </a:rPr>
              <a:t>INTRODUCTION :- CSS</a:t>
            </a:r>
            <a:endParaRPr lang="en-IN" altLang="en-US" b="1" dirty="0" smtClean="0">
              <a:solidFill>
                <a:schemeClr val="bg1"/>
              </a:solidFill>
              <a:ea typeface="Microsoft YaHei" panose="020B0503020204020204" pitchFamily="34" charset="-122"/>
              <a:cs typeface="+mn-lt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2212975" y="4831715"/>
            <a:ext cx="68135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sz="4000" dirty="0" smtClean="0">
                <a:latin typeface="Calibri" panose="020F0502020204030204" pitchFamily="34" charset="0"/>
                <a:ea typeface="Microsoft YaHei" panose="020B0503020204020204" pitchFamily="34" charset="-122"/>
              </a:rPr>
              <a:t>①</a:t>
            </a:r>
            <a:endParaRPr lang="en-US" sz="4000" dirty="0" smtClean="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4569460" y="4831715"/>
            <a:ext cx="690880" cy="891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30000"/>
              </a:lnSpc>
            </a:pPr>
            <a:r>
              <a:rPr lang="en-US" sz="4000" dirty="0" smtClean="0">
                <a:latin typeface="Calibri" panose="020F0502020204030204" pitchFamily="34" charset="0"/>
                <a:ea typeface="Microsoft YaHei" panose="020B0503020204020204" pitchFamily="34" charset="-122"/>
              </a:rPr>
              <a:t>②</a:t>
            </a:r>
            <a:endParaRPr lang="en-US" sz="4000" dirty="0" smtClean="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935470" y="4831715"/>
            <a:ext cx="949960" cy="78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30000"/>
              </a:lnSpc>
            </a:pPr>
            <a:r>
              <a:rPr lang="en-US" sz="4000" dirty="0" smtClean="0">
                <a:latin typeface="Calibri" panose="020F0502020204030204" pitchFamily="34" charset="0"/>
                <a:ea typeface="Microsoft YaHei" panose="020B0503020204020204" pitchFamily="34" charset="-122"/>
              </a:rPr>
              <a:t>③</a:t>
            </a:r>
            <a:endParaRPr lang="en-US" sz="4000" dirty="0" smtClean="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9421495" y="5173980"/>
            <a:ext cx="456565" cy="44323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Text Box 45"/>
          <p:cNvSpPr txBox="1"/>
          <p:nvPr/>
        </p:nvSpPr>
        <p:spPr>
          <a:xfrm>
            <a:off x="9448800" y="4958715"/>
            <a:ext cx="436880" cy="8115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IN" altLang="en-US" sz="3600" dirty="0" smtClean="0">
                <a:latin typeface="Arial" panose="020B0604020202020204" pitchFamily="34" charset="0"/>
                <a:ea typeface="Microsoft YaHei" panose="020B0503020204020204" pitchFamily="34" charset="-122"/>
              </a:rPr>
              <a:t>4</a:t>
            </a:r>
            <a:endParaRPr lang="en-IN" altLang="en-US" sz="3600" dirty="0" smtClean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6723380" y="288290"/>
            <a:ext cx="546925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b="1">
                <a:solidFill>
                  <a:schemeClr val="bg1"/>
                </a:solidFill>
                <a:cs typeface="+mn-ea"/>
                <a:sym typeface="+mn-lt"/>
              </a:rPr>
              <a:t>INTRODUCTION :- JAVASCRIPT</a:t>
            </a:r>
            <a:endParaRPr lang="en-IN" altLang="zh-CN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745237" y="1143120"/>
            <a:ext cx="3669175" cy="3009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Enhancing Interactivity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135484" y="999604"/>
            <a:ext cx="588022" cy="5880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745605" y="2804795"/>
            <a:ext cx="4848225" cy="379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135535" y="2702244"/>
            <a:ext cx="588022" cy="5880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744970" y="4247515"/>
            <a:ext cx="5122545" cy="469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135535" y="4182859"/>
            <a:ext cx="588022" cy="5880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02680" y="1717040"/>
            <a:ext cx="5322570" cy="11029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JavaScript makes websites interactive. Some examples: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r>
              <a:rPr lang="en-IN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Image sliders/carousels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r>
              <a:rPr lang="en-IN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Pop-up modals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r>
              <a:rPr lang="en-IN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Show/hide content on button click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315075" y="3422015"/>
            <a:ext cx="5278755" cy="4349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With JavaScript, content on a page can update without reloading the entire page.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314924" y="5096817"/>
            <a:ext cx="5322721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JS can be used to animate elements: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r>
              <a:rPr lang="en-IN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Fading in/out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r>
              <a:rPr lang="en-IN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Moving objects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r>
              <a:rPr lang="en-IN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-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Changing styles over time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 </a:t>
            </a:r>
            <a:endParaRPr lang="en-US" altLang="zh-CN" sz="1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Freeform 5"/>
          <p:cNvSpPr>
            <a:spLocks noEditPoints="1"/>
          </p:cNvSpPr>
          <p:nvPr/>
        </p:nvSpPr>
        <p:spPr bwMode="auto">
          <a:xfrm>
            <a:off x="6256801" y="1142800"/>
            <a:ext cx="345487" cy="346951"/>
          </a:xfrm>
          <a:custGeom>
            <a:avLst/>
            <a:gdLst>
              <a:gd name="T0" fmla="*/ 168 w 197"/>
              <a:gd name="T1" fmla="*/ 99 h 198"/>
              <a:gd name="T2" fmla="*/ 197 w 197"/>
              <a:gd name="T3" fmla="*/ 99 h 198"/>
              <a:gd name="T4" fmla="*/ 175 w 197"/>
              <a:gd name="T5" fmla="*/ 64 h 198"/>
              <a:gd name="T6" fmla="*/ 167 w 197"/>
              <a:gd name="T7" fmla="*/ 50 h 198"/>
              <a:gd name="T8" fmla="*/ 175 w 197"/>
              <a:gd name="T9" fmla="*/ 64 h 198"/>
              <a:gd name="T10" fmla="*/ 134 w 197"/>
              <a:gd name="T11" fmla="*/ 22 h 198"/>
              <a:gd name="T12" fmla="*/ 147 w 197"/>
              <a:gd name="T13" fmla="*/ 30 h 198"/>
              <a:gd name="T14" fmla="*/ 99 w 197"/>
              <a:gd name="T15" fmla="*/ 30 h 198"/>
              <a:gd name="T16" fmla="*/ 99 w 197"/>
              <a:gd name="T17" fmla="*/ 0 h 198"/>
              <a:gd name="T18" fmla="*/ 99 w 197"/>
              <a:gd name="T19" fmla="*/ 30 h 198"/>
              <a:gd name="T20" fmla="*/ 50 w 197"/>
              <a:gd name="T21" fmla="*/ 30 h 198"/>
              <a:gd name="T22" fmla="*/ 63 w 197"/>
              <a:gd name="T23" fmla="*/ 22 h 198"/>
              <a:gd name="T24" fmla="*/ 101 w 197"/>
              <a:gd name="T25" fmla="*/ 39 h 198"/>
              <a:gd name="T26" fmla="*/ 101 w 197"/>
              <a:gd name="T27" fmla="*/ 160 h 198"/>
              <a:gd name="T28" fmla="*/ 101 w 197"/>
              <a:gd name="T29" fmla="*/ 39 h 198"/>
              <a:gd name="T30" fmla="*/ 13 w 197"/>
              <a:gd name="T31" fmla="*/ 149 h 198"/>
              <a:gd name="T32" fmla="*/ 39 w 197"/>
              <a:gd name="T33" fmla="*/ 134 h 198"/>
              <a:gd name="T34" fmla="*/ 22 w 197"/>
              <a:gd name="T35" fmla="*/ 64 h 198"/>
              <a:gd name="T36" fmla="*/ 30 w 197"/>
              <a:gd name="T37" fmla="*/ 50 h 198"/>
              <a:gd name="T38" fmla="*/ 22 w 197"/>
              <a:gd name="T39" fmla="*/ 64 h 198"/>
              <a:gd name="T40" fmla="*/ 15 w 197"/>
              <a:gd name="T41" fmla="*/ 107 h 198"/>
              <a:gd name="T42" fmla="*/ 15 w 197"/>
              <a:gd name="T43" fmla="*/ 91 h 198"/>
              <a:gd name="T44" fmla="*/ 64 w 197"/>
              <a:gd name="T45" fmla="*/ 159 h 198"/>
              <a:gd name="T46" fmla="*/ 49 w 197"/>
              <a:gd name="T47" fmla="*/ 185 h 198"/>
              <a:gd name="T48" fmla="*/ 64 w 197"/>
              <a:gd name="T49" fmla="*/ 159 h 198"/>
              <a:gd name="T50" fmla="*/ 106 w 197"/>
              <a:gd name="T51" fmla="*/ 183 h 198"/>
              <a:gd name="T52" fmla="*/ 91 w 197"/>
              <a:gd name="T53" fmla="*/ 183 h 198"/>
              <a:gd name="T54" fmla="*/ 133 w 197"/>
              <a:gd name="T55" fmla="*/ 159 h 198"/>
              <a:gd name="T56" fmla="*/ 148 w 197"/>
              <a:gd name="T57" fmla="*/ 185 h 198"/>
              <a:gd name="T58" fmla="*/ 133 w 197"/>
              <a:gd name="T59" fmla="*/ 159 h 198"/>
              <a:gd name="T60" fmla="*/ 184 w 197"/>
              <a:gd name="T61" fmla="*/ 149 h 198"/>
              <a:gd name="T62" fmla="*/ 158 w 197"/>
              <a:gd name="T63" fmla="*/ 134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7" h="198">
                <a:moveTo>
                  <a:pt x="183" y="107"/>
                </a:moveTo>
                <a:cubicBezTo>
                  <a:pt x="174" y="107"/>
                  <a:pt x="168" y="103"/>
                  <a:pt x="168" y="99"/>
                </a:cubicBezTo>
                <a:cubicBezTo>
                  <a:pt x="168" y="95"/>
                  <a:pt x="174" y="91"/>
                  <a:pt x="183" y="91"/>
                </a:cubicBezTo>
                <a:cubicBezTo>
                  <a:pt x="191" y="91"/>
                  <a:pt x="197" y="95"/>
                  <a:pt x="197" y="99"/>
                </a:cubicBezTo>
                <a:cubicBezTo>
                  <a:pt x="197" y="103"/>
                  <a:pt x="191" y="107"/>
                  <a:pt x="183" y="107"/>
                </a:cubicBezTo>
                <a:close/>
                <a:moveTo>
                  <a:pt x="175" y="64"/>
                </a:moveTo>
                <a:cubicBezTo>
                  <a:pt x="168" y="68"/>
                  <a:pt x="161" y="68"/>
                  <a:pt x="158" y="65"/>
                </a:cubicBezTo>
                <a:cubicBezTo>
                  <a:pt x="156" y="61"/>
                  <a:pt x="160" y="55"/>
                  <a:pt x="167" y="50"/>
                </a:cubicBezTo>
                <a:cubicBezTo>
                  <a:pt x="175" y="46"/>
                  <a:pt x="182" y="46"/>
                  <a:pt x="184" y="50"/>
                </a:cubicBezTo>
                <a:cubicBezTo>
                  <a:pt x="186" y="53"/>
                  <a:pt x="182" y="60"/>
                  <a:pt x="175" y="64"/>
                </a:cubicBezTo>
                <a:close/>
                <a:moveTo>
                  <a:pt x="133" y="39"/>
                </a:moveTo>
                <a:cubicBezTo>
                  <a:pt x="129" y="37"/>
                  <a:pt x="130" y="30"/>
                  <a:pt x="134" y="22"/>
                </a:cubicBezTo>
                <a:cubicBezTo>
                  <a:pt x="138" y="15"/>
                  <a:pt x="144" y="11"/>
                  <a:pt x="148" y="13"/>
                </a:cubicBezTo>
                <a:cubicBezTo>
                  <a:pt x="152" y="16"/>
                  <a:pt x="151" y="23"/>
                  <a:pt x="147" y="30"/>
                </a:cubicBezTo>
                <a:cubicBezTo>
                  <a:pt x="143" y="37"/>
                  <a:pt x="137" y="41"/>
                  <a:pt x="133" y="39"/>
                </a:cubicBezTo>
                <a:close/>
                <a:moveTo>
                  <a:pt x="99" y="30"/>
                </a:moveTo>
                <a:cubicBezTo>
                  <a:pt x="94" y="30"/>
                  <a:pt x="91" y="23"/>
                  <a:pt x="91" y="15"/>
                </a:cubicBezTo>
                <a:cubicBezTo>
                  <a:pt x="91" y="7"/>
                  <a:pt x="94" y="0"/>
                  <a:pt x="99" y="0"/>
                </a:cubicBezTo>
                <a:cubicBezTo>
                  <a:pt x="103" y="0"/>
                  <a:pt x="106" y="7"/>
                  <a:pt x="106" y="15"/>
                </a:cubicBezTo>
                <a:cubicBezTo>
                  <a:pt x="106" y="23"/>
                  <a:pt x="103" y="30"/>
                  <a:pt x="99" y="30"/>
                </a:cubicBezTo>
                <a:close/>
                <a:moveTo>
                  <a:pt x="64" y="39"/>
                </a:moveTo>
                <a:cubicBezTo>
                  <a:pt x="60" y="41"/>
                  <a:pt x="54" y="37"/>
                  <a:pt x="50" y="30"/>
                </a:cubicBezTo>
                <a:cubicBezTo>
                  <a:pt x="46" y="23"/>
                  <a:pt x="45" y="16"/>
                  <a:pt x="49" y="13"/>
                </a:cubicBezTo>
                <a:cubicBezTo>
                  <a:pt x="53" y="11"/>
                  <a:pt x="59" y="15"/>
                  <a:pt x="63" y="22"/>
                </a:cubicBezTo>
                <a:cubicBezTo>
                  <a:pt x="67" y="30"/>
                  <a:pt x="68" y="37"/>
                  <a:pt x="64" y="39"/>
                </a:cubicBezTo>
                <a:close/>
                <a:moveTo>
                  <a:pt x="101" y="39"/>
                </a:moveTo>
                <a:cubicBezTo>
                  <a:pt x="134" y="39"/>
                  <a:pt x="161" y="66"/>
                  <a:pt x="161" y="100"/>
                </a:cubicBezTo>
                <a:cubicBezTo>
                  <a:pt x="161" y="133"/>
                  <a:pt x="134" y="160"/>
                  <a:pt x="101" y="160"/>
                </a:cubicBezTo>
                <a:cubicBezTo>
                  <a:pt x="67" y="160"/>
                  <a:pt x="40" y="133"/>
                  <a:pt x="40" y="100"/>
                </a:cubicBezTo>
                <a:cubicBezTo>
                  <a:pt x="40" y="66"/>
                  <a:pt x="67" y="39"/>
                  <a:pt x="101" y="39"/>
                </a:cubicBezTo>
                <a:close/>
                <a:moveTo>
                  <a:pt x="30" y="148"/>
                </a:moveTo>
                <a:cubicBezTo>
                  <a:pt x="23" y="152"/>
                  <a:pt x="15" y="152"/>
                  <a:pt x="13" y="149"/>
                </a:cubicBezTo>
                <a:cubicBezTo>
                  <a:pt x="11" y="145"/>
                  <a:pt x="15" y="139"/>
                  <a:pt x="22" y="134"/>
                </a:cubicBezTo>
                <a:cubicBezTo>
                  <a:pt x="29" y="130"/>
                  <a:pt x="37" y="130"/>
                  <a:pt x="39" y="134"/>
                </a:cubicBezTo>
                <a:cubicBezTo>
                  <a:pt x="41" y="137"/>
                  <a:pt x="37" y="144"/>
                  <a:pt x="30" y="148"/>
                </a:cubicBezTo>
                <a:close/>
                <a:moveTo>
                  <a:pt x="22" y="64"/>
                </a:moveTo>
                <a:cubicBezTo>
                  <a:pt x="15" y="60"/>
                  <a:pt x="11" y="53"/>
                  <a:pt x="13" y="50"/>
                </a:cubicBezTo>
                <a:cubicBezTo>
                  <a:pt x="15" y="46"/>
                  <a:pt x="23" y="46"/>
                  <a:pt x="30" y="50"/>
                </a:cubicBezTo>
                <a:cubicBezTo>
                  <a:pt x="37" y="55"/>
                  <a:pt x="41" y="61"/>
                  <a:pt x="39" y="65"/>
                </a:cubicBezTo>
                <a:cubicBezTo>
                  <a:pt x="37" y="68"/>
                  <a:pt x="29" y="68"/>
                  <a:pt x="22" y="64"/>
                </a:cubicBezTo>
                <a:close/>
                <a:moveTo>
                  <a:pt x="29" y="99"/>
                </a:moveTo>
                <a:cubicBezTo>
                  <a:pt x="29" y="103"/>
                  <a:pt x="23" y="107"/>
                  <a:pt x="15" y="107"/>
                </a:cubicBezTo>
                <a:cubicBezTo>
                  <a:pt x="6" y="107"/>
                  <a:pt x="0" y="103"/>
                  <a:pt x="0" y="99"/>
                </a:cubicBezTo>
                <a:cubicBezTo>
                  <a:pt x="0" y="95"/>
                  <a:pt x="6" y="91"/>
                  <a:pt x="15" y="91"/>
                </a:cubicBezTo>
                <a:cubicBezTo>
                  <a:pt x="23" y="91"/>
                  <a:pt x="29" y="95"/>
                  <a:pt x="29" y="99"/>
                </a:cubicBezTo>
                <a:close/>
                <a:moveTo>
                  <a:pt x="64" y="159"/>
                </a:moveTo>
                <a:cubicBezTo>
                  <a:pt x="68" y="161"/>
                  <a:pt x="67" y="169"/>
                  <a:pt x="63" y="176"/>
                </a:cubicBezTo>
                <a:cubicBezTo>
                  <a:pt x="59" y="183"/>
                  <a:pt x="53" y="187"/>
                  <a:pt x="49" y="185"/>
                </a:cubicBezTo>
                <a:cubicBezTo>
                  <a:pt x="45" y="183"/>
                  <a:pt x="46" y="175"/>
                  <a:pt x="50" y="168"/>
                </a:cubicBezTo>
                <a:cubicBezTo>
                  <a:pt x="54" y="161"/>
                  <a:pt x="60" y="157"/>
                  <a:pt x="64" y="159"/>
                </a:cubicBezTo>
                <a:close/>
                <a:moveTo>
                  <a:pt x="99" y="168"/>
                </a:moveTo>
                <a:cubicBezTo>
                  <a:pt x="103" y="168"/>
                  <a:pt x="106" y="175"/>
                  <a:pt x="106" y="183"/>
                </a:cubicBezTo>
                <a:cubicBezTo>
                  <a:pt x="106" y="191"/>
                  <a:pt x="103" y="198"/>
                  <a:pt x="99" y="198"/>
                </a:cubicBezTo>
                <a:cubicBezTo>
                  <a:pt x="94" y="198"/>
                  <a:pt x="91" y="191"/>
                  <a:pt x="91" y="183"/>
                </a:cubicBezTo>
                <a:cubicBezTo>
                  <a:pt x="91" y="175"/>
                  <a:pt x="94" y="168"/>
                  <a:pt x="99" y="168"/>
                </a:cubicBezTo>
                <a:close/>
                <a:moveTo>
                  <a:pt x="133" y="159"/>
                </a:moveTo>
                <a:cubicBezTo>
                  <a:pt x="137" y="157"/>
                  <a:pt x="143" y="161"/>
                  <a:pt x="147" y="168"/>
                </a:cubicBezTo>
                <a:cubicBezTo>
                  <a:pt x="151" y="175"/>
                  <a:pt x="152" y="183"/>
                  <a:pt x="148" y="185"/>
                </a:cubicBezTo>
                <a:cubicBezTo>
                  <a:pt x="144" y="187"/>
                  <a:pt x="138" y="183"/>
                  <a:pt x="134" y="176"/>
                </a:cubicBezTo>
                <a:cubicBezTo>
                  <a:pt x="130" y="169"/>
                  <a:pt x="129" y="161"/>
                  <a:pt x="133" y="159"/>
                </a:cubicBezTo>
                <a:close/>
                <a:moveTo>
                  <a:pt x="175" y="134"/>
                </a:moveTo>
                <a:cubicBezTo>
                  <a:pt x="182" y="139"/>
                  <a:pt x="186" y="145"/>
                  <a:pt x="184" y="149"/>
                </a:cubicBezTo>
                <a:cubicBezTo>
                  <a:pt x="182" y="152"/>
                  <a:pt x="175" y="152"/>
                  <a:pt x="167" y="148"/>
                </a:cubicBezTo>
                <a:cubicBezTo>
                  <a:pt x="160" y="144"/>
                  <a:pt x="156" y="137"/>
                  <a:pt x="158" y="134"/>
                </a:cubicBezTo>
                <a:cubicBezTo>
                  <a:pt x="161" y="130"/>
                  <a:pt x="168" y="130"/>
                  <a:pt x="175" y="1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Freeform 9"/>
          <p:cNvSpPr>
            <a:spLocks noEditPoints="1"/>
          </p:cNvSpPr>
          <p:nvPr/>
        </p:nvSpPr>
        <p:spPr bwMode="auto">
          <a:xfrm>
            <a:off x="6285897" y="2805739"/>
            <a:ext cx="316504" cy="304611"/>
          </a:xfrm>
          <a:custGeom>
            <a:avLst/>
            <a:gdLst>
              <a:gd name="T0" fmla="*/ 186 w 200"/>
              <a:gd name="T1" fmla="*/ 114 h 192"/>
              <a:gd name="T2" fmla="*/ 182 w 200"/>
              <a:gd name="T3" fmla="*/ 154 h 192"/>
              <a:gd name="T4" fmla="*/ 149 w 200"/>
              <a:gd name="T5" fmla="*/ 191 h 192"/>
              <a:gd name="T6" fmla="*/ 68 w 200"/>
              <a:gd name="T7" fmla="*/ 172 h 192"/>
              <a:gd name="T8" fmla="*/ 68 w 200"/>
              <a:gd name="T9" fmla="*/ 171 h 192"/>
              <a:gd name="T10" fmla="*/ 68 w 200"/>
              <a:gd name="T11" fmla="*/ 191 h 192"/>
              <a:gd name="T12" fmla="*/ 48 w 200"/>
              <a:gd name="T13" fmla="*/ 191 h 192"/>
              <a:gd name="T14" fmla="*/ 28 w 200"/>
              <a:gd name="T15" fmla="*/ 191 h 192"/>
              <a:gd name="T16" fmla="*/ 20 w 200"/>
              <a:gd name="T17" fmla="*/ 191 h 192"/>
              <a:gd name="T18" fmla="*/ 0 w 200"/>
              <a:gd name="T19" fmla="*/ 171 h 192"/>
              <a:gd name="T20" fmla="*/ 0 w 200"/>
              <a:gd name="T21" fmla="*/ 79 h 192"/>
              <a:gd name="T22" fmla="*/ 20 w 200"/>
              <a:gd name="T23" fmla="*/ 59 h 192"/>
              <a:gd name="T24" fmla="*/ 28 w 200"/>
              <a:gd name="T25" fmla="*/ 59 h 192"/>
              <a:gd name="T26" fmla="*/ 48 w 200"/>
              <a:gd name="T27" fmla="*/ 59 h 192"/>
              <a:gd name="T28" fmla="*/ 68 w 200"/>
              <a:gd name="T29" fmla="*/ 59 h 192"/>
              <a:gd name="T30" fmla="*/ 68 w 200"/>
              <a:gd name="T31" fmla="*/ 79 h 192"/>
              <a:gd name="T32" fmla="*/ 68 w 200"/>
              <a:gd name="T33" fmla="*/ 79 h 192"/>
              <a:gd name="T34" fmla="*/ 125 w 200"/>
              <a:gd name="T35" fmla="*/ 1 h 192"/>
              <a:gd name="T36" fmla="*/ 153 w 200"/>
              <a:gd name="T37" fmla="*/ 67 h 192"/>
              <a:gd name="T38" fmla="*/ 197 w 200"/>
              <a:gd name="T39" fmla="*/ 89 h 192"/>
              <a:gd name="T40" fmla="*/ 186 w 200"/>
              <a:gd name="T41" fmla="*/ 114 h 192"/>
              <a:gd name="T42" fmla="*/ 138 w 200"/>
              <a:gd name="T43" fmla="*/ 78 h 192"/>
              <a:gd name="T44" fmla="*/ 132 w 200"/>
              <a:gd name="T45" fmla="*/ 13 h 192"/>
              <a:gd name="T46" fmla="*/ 68 w 200"/>
              <a:gd name="T47" fmla="*/ 94 h 192"/>
              <a:gd name="T48" fmla="*/ 68 w 200"/>
              <a:gd name="T49" fmla="*/ 101 h 192"/>
              <a:gd name="T50" fmla="*/ 68 w 200"/>
              <a:gd name="T51" fmla="*/ 157 h 192"/>
              <a:gd name="T52" fmla="*/ 148 w 200"/>
              <a:gd name="T53" fmla="*/ 179 h 192"/>
              <a:gd name="T54" fmla="*/ 165 w 200"/>
              <a:gd name="T55" fmla="*/ 150 h 192"/>
              <a:gd name="T56" fmla="*/ 170 w 200"/>
              <a:gd name="T57" fmla="*/ 113 h 192"/>
              <a:gd name="T58" fmla="*/ 182 w 200"/>
              <a:gd name="T59" fmla="*/ 92 h 192"/>
              <a:gd name="T60" fmla="*/ 138 w 200"/>
              <a:gd name="T61" fmla="*/ 7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192">
                <a:moveTo>
                  <a:pt x="186" y="114"/>
                </a:moveTo>
                <a:cubicBezTo>
                  <a:pt x="200" y="118"/>
                  <a:pt x="196" y="152"/>
                  <a:pt x="182" y="154"/>
                </a:cubicBezTo>
                <a:cubicBezTo>
                  <a:pt x="185" y="163"/>
                  <a:pt x="186" y="192"/>
                  <a:pt x="149" y="191"/>
                </a:cubicBezTo>
                <a:cubicBezTo>
                  <a:pt x="105" y="191"/>
                  <a:pt x="97" y="172"/>
                  <a:pt x="68" y="17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91"/>
                  <a:pt x="68" y="191"/>
                  <a:pt x="68" y="191"/>
                </a:cubicBezTo>
                <a:cubicBezTo>
                  <a:pt x="48" y="191"/>
                  <a:pt x="48" y="191"/>
                  <a:pt x="48" y="191"/>
                </a:cubicBezTo>
                <a:cubicBezTo>
                  <a:pt x="28" y="191"/>
                  <a:pt x="28" y="191"/>
                  <a:pt x="28" y="191"/>
                </a:cubicBezTo>
                <a:cubicBezTo>
                  <a:pt x="20" y="191"/>
                  <a:pt x="20" y="191"/>
                  <a:pt x="20" y="191"/>
                </a:cubicBezTo>
                <a:cubicBezTo>
                  <a:pt x="9" y="191"/>
                  <a:pt x="0" y="182"/>
                  <a:pt x="0" y="171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68"/>
                  <a:pt x="9" y="59"/>
                  <a:pt x="20" y="59"/>
                </a:cubicBezTo>
                <a:cubicBezTo>
                  <a:pt x="28" y="59"/>
                  <a:pt x="28" y="59"/>
                  <a:pt x="28" y="59"/>
                </a:cubicBezTo>
                <a:cubicBezTo>
                  <a:pt x="48" y="59"/>
                  <a:pt x="48" y="59"/>
                  <a:pt x="48" y="59"/>
                </a:cubicBezTo>
                <a:cubicBezTo>
                  <a:pt x="68" y="59"/>
                  <a:pt x="68" y="59"/>
                  <a:pt x="68" y="59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79"/>
                  <a:pt x="68" y="79"/>
                  <a:pt x="68" y="79"/>
                </a:cubicBezTo>
                <a:cubicBezTo>
                  <a:pt x="115" y="60"/>
                  <a:pt x="113" y="2"/>
                  <a:pt x="125" y="1"/>
                </a:cubicBezTo>
                <a:cubicBezTo>
                  <a:pt x="196" y="0"/>
                  <a:pt x="153" y="67"/>
                  <a:pt x="153" y="67"/>
                </a:cubicBezTo>
                <a:cubicBezTo>
                  <a:pt x="153" y="67"/>
                  <a:pt x="193" y="54"/>
                  <a:pt x="197" y="89"/>
                </a:cubicBezTo>
                <a:cubicBezTo>
                  <a:pt x="196" y="99"/>
                  <a:pt x="197" y="105"/>
                  <a:pt x="186" y="114"/>
                </a:cubicBezTo>
                <a:close/>
                <a:moveTo>
                  <a:pt x="138" y="78"/>
                </a:moveTo>
                <a:cubicBezTo>
                  <a:pt x="138" y="78"/>
                  <a:pt x="171" y="12"/>
                  <a:pt x="132" y="13"/>
                </a:cubicBezTo>
                <a:cubicBezTo>
                  <a:pt x="125" y="13"/>
                  <a:pt x="128" y="74"/>
                  <a:pt x="68" y="94"/>
                </a:cubicBezTo>
                <a:cubicBezTo>
                  <a:pt x="68" y="93"/>
                  <a:pt x="68" y="96"/>
                  <a:pt x="68" y="101"/>
                </a:cubicBezTo>
                <a:cubicBezTo>
                  <a:pt x="68" y="157"/>
                  <a:pt x="68" y="157"/>
                  <a:pt x="68" y="157"/>
                </a:cubicBezTo>
                <a:cubicBezTo>
                  <a:pt x="91" y="157"/>
                  <a:pt x="118" y="179"/>
                  <a:pt x="148" y="179"/>
                </a:cubicBezTo>
                <a:cubicBezTo>
                  <a:pt x="173" y="179"/>
                  <a:pt x="170" y="158"/>
                  <a:pt x="165" y="150"/>
                </a:cubicBezTo>
                <a:cubicBezTo>
                  <a:pt x="185" y="144"/>
                  <a:pt x="180" y="116"/>
                  <a:pt x="170" y="113"/>
                </a:cubicBezTo>
                <a:cubicBezTo>
                  <a:pt x="179" y="102"/>
                  <a:pt x="181" y="99"/>
                  <a:pt x="182" y="92"/>
                </a:cubicBezTo>
                <a:cubicBezTo>
                  <a:pt x="179" y="68"/>
                  <a:pt x="138" y="78"/>
                  <a:pt x="138" y="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Freeform 13"/>
          <p:cNvSpPr>
            <a:spLocks noEditPoints="1"/>
          </p:cNvSpPr>
          <p:nvPr/>
        </p:nvSpPr>
        <p:spPr bwMode="auto">
          <a:xfrm>
            <a:off x="6257290" y="4327525"/>
            <a:ext cx="344805" cy="334010"/>
          </a:xfrm>
          <a:custGeom>
            <a:avLst/>
            <a:gdLst>
              <a:gd name="T0" fmla="*/ 179 w 200"/>
              <a:gd name="T1" fmla="*/ 160 h 198"/>
              <a:gd name="T2" fmla="*/ 181 w 200"/>
              <a:gd name="T3" fmla="*/ 198 h 198"/>
              <a:gd name="T4" fmla="*/ 147 w 200"/>
              <a:gd name="T5" fmla="*/ 174 h 198"/>
              <a:gd name="T6" fmla="*/ 140 w 200"/>
              <a:gd name="T7" fmla="*/ 175 h 198"/>
              <a:gd name="T8" fmla="*/ 81 w 200"/>
              <a:gd name="T9" fmla="*/ 115 h 198"/>
              <a:gd name="T10" fmla="*/ 140 w 200"/>
              <a:gd name="T11" fmla="*/ 55 h 198"/>
              <a:gd name="T12" fmla="*/ 200 w 200"/>
              <a:gd name="T13" fmla="*/ 115 h 198"/>
              <a:gd name="T14" fmla="*/ 179 w 200"/>
              <a:gd name="T15" fmla="*/ 160 h 198"/>
              <a:gd name="T16" fmla="*/ 140 w 200"/>
              <a:gd name="T17" fmla="*/ 70 h 198"/>
              <a:gd name="T18" fmla="*/ 96 w 200"/>
              <a:gd name="T19" fmla="*/ 114 h 198"/>
              <a:gd name="T20" fmla="*/ 140 w 200"/>
              <a:gd name="T21" fmla="*/ 158 h 198"/>
              <a:gd name="T22" fmla="*/ 146 w 200"/>
              <a:gd name="T23" fmla="*/ 158 h 198"/>
              <a:gd name="T24" fmla="*/ 168 w 200"/>
              <a:gd name="T25" fmla="*/ 173 h 198"/>
              <a:gd name="T26" fmla="*/ 169 w 200"/>
              <a:gd name="T27" fmla="*/ 147 h 198"/>
              <a:gd name="T28" fmla="*/ 184 w 200"/>
              <a:gd name="T29" fmla="*/ 114 h 198"/>
              <a:gd name="T30" fmla="*/ 140 w 200"/>
              <a:gd name="T31" fmla="*/ 70 h 198"/>
              <a:gd name="T32" fmla="*/ 69 w 200"/>
              <a:gd name="T33" fmla="*/ 119 h 198"/>
              <a:gd name="T34" fmla="*/ 79 w 200"/>
              <a:gd name="T35" fmla="*/ 157 h 198"/>
              <a:gd name="T36" fmla="*/ 79 w 200"/>
              <a:gd name="T37" fmla="*/ 157 h 198"/>
              <a:gd name="T38" fmla="*/ 69 w 200"/>
              <a:gd name="T39" fmla="*/ 156 h 198"/>
              <a:gd name="T40" fmla="*/ 24 w 200"/>
              <a:gd name="T41" fmla="*/ 187 h 198"/>
              <a:gd name="T42" fmla="*/ 27 w 200"/>
              <a:gd name="T43" fmla="*/ 138 h 198"/>
              <a:gd name="T44" fmla="*/ 0 w 200"/>
              <a:gd name="T45" fmla="*/ 78 h 198"/>
              <a:gd name="T46" fmla="*/ 79 w 200"/>
              <a:gd name="T47" fmla="*/ 0 h 198"/>
              <a:gd name="T48" fmla="*/ 150 w 200"/>
              <a:gd name="T49" fmla="*/ 46 h 198"/>
              <a:gd name="T50" fmla="*/ 142 w 200"/>
              <a:gd name="T51" fmla="*/ 45 h 198"/>
              <a:gd name="T52" fmla="*/ 69 w 200"/>
              <a:gd name="T53" fmla="*/ 119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00" h="198">
                <a:moveTo>
                  <a:pt x="179" y="160"/>
                </a:moveTo>
                <a:cubicBezTo>
                  <a:pt x="181" y="198"/>
                  <a:pt x="181" y="198"/>
                  <a:pt x="181" y="198"/>
                </a:cubicBezTo>
                <a:cubicBezTo>
                  <a:pt x="147" y="174"/>
                  <a:pt x="147" y="174"/>
                  <a:pt x="147" y="174"/>
                </a:cubicBezTo>
                <a:cubicBezTo>
                  <a:pt x="145" y="174"/>
                  <a:pt x="143" y="175"/>
                  <a:pt x="140" y="175"/>
                </a:cubicBezTo>
                <a:cubicBezTo>
                  <a:pt x="107" y="175"/>
                  <a:pt x="81" y="148"/>
                  <a:pt x="81" y="115"/>
                </a:cubicBezTo>
                <a:cubicBezTo>
                  <a:pt x="81" y="82"/>
                  <a:pt x="107" y="55"/>
                  <a:pt x="140" y="55"/>
                </a:cubicBezTo>
                <a:cubicBezTo>
                  <a:pt x="173" y="55"/>
                  <a:pt x="200" y="82"/>
                  <a:pt x="200" y="115"/>
                </a:cubicBezTo>
                <a:cubicBezTo>
                  <a:pt x="200" y="133"/>
                  <a:pt x="192" y="149"/>
                  <a:pt x="179" y="160"/>
                </a:cubicBezTo>
                <a:close/>
                <a:moveTo>
                  <a:pt x="140" y="70"/>
                </a:moveTo>
                <a:cubicBezTo>
                  <a:pt x="116" y="70"/>
                  <a:pt x="96" y="90"/>
                  <a:pt x="96" y="114"/>
                </a:cubicBezTo>
                <a:cubicBezTo>
                  <a:pt x="96" y="138"/>
                  <a:pt x="116" y="158"/>
                  <a:pt x="140" y="158"/>
                </a:cubicBezTo>
                <a:cubicBezTo>
                  <a:pt x="142" y="158"/>
                  <a:pt x="144" y="158"/>
                  <a:pt x="146" y="158"/>
                </a:cubicBezTo>
                <a:cubicBezTo>
                  <a:pt x="168" y="173"/>
                  <a:pt x="168" y="173"/>
                  <a:pt x="168" y="173"/>
                </a:cubicBezTo>
                <a:cubicBezTo>
                  <a:pt x="169" y="147"/>
                  <a:pt x="169" y="147"/>
                  <a:pt x="169" y="147"/>
                </a:cubicBezTo>
                <a:cubicBezTo>
                  <a:pt x="178" y="139"/>
                  <a:pt x="184" y="127"/>
                  <a:pt x="184" y="114"/>
                </a:cubicBezTo>
                <a:cubicBezTo>
                  <a:pt x="184" y="90"/>
                  <a:pt x="164" y="70"/>
                  <a:pt x="140" y="70"/>
                </a:cubicBezTo>
                <a:close/>
                <a:moveTo>
                  <a:pt x="69" y="119"/>
                </a:moveTo>
                <a:cubicBezTo>
                  <a:pt x="69" y="133"/>
                  <a:pt x="72" y="146"/>
                  <a:pt x="79" y="157"/>
                </a:cubicBezTo>
                <a:cubicBezTo>
                  <a:pt x="79" y="157"/>
                  <a:pt x="79" y="157"/>
                  <a:pt x="79" y="157"/>
                </a:cubicBezTo>
                <a:cubicBezTo>
                  <a:pt x="75" y="157"/>
                  <a:pt x="72" y="156"/>
                  <a:pt x="69" y="156"/>
                </a:cubicBezTo>
                <a:cubicBezTo>
                  <a:pt x="24" y="187"/>
                  <a:pt x="24" y="187"/>
                  <a:pt x="24" y="187"/>
                </a:cubicBezTo>
                <a:cubicBezTo>
                  <a:pt x="27" y="138"/>
                  <a:pt x="27" y="138"/>
                  <a:pt x="27" y="138"/>
                </a:cubicBezTo>
                <a:cubicBezTo>
                  <a:pt x="11" y="123"/>
                  <a:pt x="0" y="102"/>
                  <a:pt x="0" y="78"/>
                </a:cubicBezTo>
                <a:cubicBezTo>
                  <a:pt x="0" y="35"/>
                  <a:pt x="35" y="0"/>
                  <a:pt x="79" y="0"/>
                </a:cubicBezTo>
                <a:cubicBezTo>
                  <a:pt x="110" y="0"/>
                  <a:pt x="138" y="19"/>
                  <a:pt x="150" y="46"/>
                </a:cubicBezTo>
                <a:cubicBezTo>
                  <a:pt x="147" y="45"/>
                  <a:pt x="145" y="45"/>
                  <a:pt x="142" y="45"/>
                </a:cubicBezTo>
                <a:cubicBezTo>
                  <a:pt x="101" y="45"/>
                  <a:pt x="69" y="78"/>
                  <a:pt x="69" y="1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828155" y="2795905"/>
            <a:ext cx="4578985" cy="616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Dynamic Content Updates</a:t>
            </a:r>
            <a:endParaRPr lang="en-US" altLang="en-US" dirty="0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029450" y="4246880"/>
            <a:ext cx="4674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Arial" panose="020B0604020202020204" pitchFamily="34" charset="0"/>
              </a:rPr>
              <a:t>Animation and Effects</a:t>
            </a:r>
            <a:endParaRPr lang="en-US" altLang="en-US" dirty="0">
              <a:latin typeface="Arial" panose="020B0604020202020204" pitchFamily="34" charset="0"/>
              <a:ea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45610" y="3056890"/>
            <a:ext cx="371983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altLang="zh-CN" sz="3200" b="1" dirty="0">
                <a:solidFill>
                  <a:schemeClr val="bg1"/>
                </a:solidFill>
                <a:cs typeface="+mn-ea"/>
                <a:sym typeface="+mn-lt"/>
              </a:rPr>
              <a:t>WHY I CHOOSE THIS PROJECT </a:t>
            </a:r>
            <a:endParaRPr lang="en-IN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49270" y="1959958"/>
            <a:ext cx="2112510" cy="1167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60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02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1899705" y="3610711"/>
            <a:ext cx="2483269" cy="2483269"/>
          </a:xfrm>
          <a:prstGeom prst="leftCircularArrow">
            <a:avLst>
              <a:gd name="adj1" fmla="val 2872"/>
              <a:gd name="adj2" fmla="val 351158"/>
              <a:gd name="adj3" fmla="val 2126668"/>
              <a:gd name="adj4" fmla="val 9024489"/>
              <a:gd name="adj5" fmla="val 3351"/>
            </a:avLst>
          </a:prstGeom>
          <a:solidFill>
            <a:schemeClr val="accent1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19430" y="2901950"/>
            <a:ext cx="2604770" cy="1861185"/>
          </a:xfrm>
          <a:custGeom>
            <a:avLst/>
            <a:gdLst>
              <a:gd name="connsiteX0" fmla="*/ 0 w 1281166"/>
              <a:gd name="connsiteY0" fmla="*/ 105669 h 1056694"/>
              <a:gd name="connsiteX1" fmla="*/ 105669 w 1281166"/>
              <a:gd name="connsiteY1" fmla="*/ 0 h 1056694"/>
              <a:gd name="connsiteX2" fmla="*/ 1175497 w 1281166"/>
              <a:gd name="connsiteY2" fmla="*/ 0 h 1056694"/>
              <a:gd name="connsiteX3" fmla="*/ 1281166 w 1281166"/>
              <a:gd name="connsiteY3" fmla="*/ 105669 h 1056694"/>
              <a:gd name="connsiteX4" fmla="*/ 1281166 w 1281166"/>
              <a:gd name="connsiteY4" fmla="*/ 951025 h 1056694"/>
              <a:gd name="connsiteX5" fmla="*/ 1175497 w 1281166"/>
              <a:gd name="connsiteY5" fmla="*/ 1056694 h 1056694"/>
              <a:gd name="connsiteX6" fmla="*/ 105669 w 1281166"/>
              <a:gd name="connsiteY6" fmla="*/ 1056694 h 1056694"/>
              <a:gd name="connsiteX7" fmla="*/ 0 w 1281166"/>
              <a:gd name="connsiteY7" fmla="*/ 951025 h 1056694"/>
              <a:gd name="connsiteX8" fmla="*/ 0 w 1281166"/>
              <a:gd name="connsiteY8" fmla="*/ 105669 h 105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1166" h="1056694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66227" rIns="66227" bIns="91440" numCol="1" spcCol="1270" anchor="t" anchorCtr="0">
            <a:noAutofit/>
          </a:bodyPr>
          <a:lstStyle/>
          <a:p>
            <a:pPr marL="228600" lvl="1" indent="-228600" algn="l" defTabSz="9779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38605" y="4396105"/>
            <a:ext cx="1811655" cy="923290"/>
          </a:xfrm>
          <a:custGeom>
            <a:avLst/>
            <a:gdLst>
              <a:gd name="connsiteX0" fmla="*/ 0 w 1138814"/>
              <a:gd name="connsiteY0" fmla="*/ 45287 h 452869"/>
              <a:gd name="connsiteX1" fmla="*/ 45287 w 1138814"/>
              <a:gd name="connsiteY1" fmla="*/ 0 h 452869"/>
              <a:gd name="connsiteX2" fmla="*/ 1093527 w 1138814"/>
              <a:gd name="connsiteY2" fmla="*/ 0 h 452869"/>
              <a:gd name="connsiteX3" fmla="*/ 1138814 w 1138814"/>
              <a:gd name="connsiteY3" fmla="*/ 45287 h 452869"/>
              <a:gd name="connsiteX4" fmla="*/ 1138814 w 1138814"/>
              <a:gd name="connsiteY4" fmla="*/ 407582 h 452869"/>
              <a:gd name="connsiteX5" fmla="*/ 1093527 w 1138814"/>
              <a:gd name="connsiteY5" fmla="*/ 452869 h 452869"/>
              <a:gd name="connsiteX6" fmla="*/ 45287 w 1138814"/>
              <a:gd name="connsiteY6" fmla="*/ 452869 h 452869"/>
              <a:gd name="connsiteX7" fmla="*/ 0 w 1138814"/>
              <a:gd name="connsiteY7" fmla="*/ 407582 h 452869"/>
              <a:gd name="connsiteX8" fmla="*/ 0 w 1138814"/>
              <a:gd name="connsiteY8" fmla="*/ 45287 h 45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8814" h="452869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142233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889" tIns="45014" rIns="60889" bIns="45014" numCol="1" spcCol="1270" anchor="ctr" anchorCtr="0">
            <a:noAutofit/>
          </a:bodyPr>
          <a:lstStyle/>
          <a:p>
            <a:pPr lvl="0" algn="ctr" defTabSz="11112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2400" kern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Circular Arrow 5"/>
          <p:cNvSpPr/>
          <p:nvPr/>
        </p:nvSpPr>
        <p:spPr>
          <a:xfrm>
            <a:off x="4492972" y="1562087"/>
            <a:ext cx="2779163" cy="2779163"/>
          </a:xfrm>
          <a:prstGeom prst="circularArrow">
            <a:avLst>
              <a:gd name="adj1" fmla="val 2567"/>
              <a:gd name="adj2" fmla="val 311540"/>
              <a:gd name="adj3" fmla="val 19512949"/>
              <a:gd name="adj4" fmla="val 12575511"/>
              <a:gd name="adj5" fmla="val 2994"/>
            </a:avLst>
          </a:prstGeom>
          <a:solidFill>
            <a:schemeClr val="accent2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Freeform 7"/>
          <p:cNvSpPr/>
          <p:nvPr/>
        </p:nvSpPr>
        <p:spPr>
          <a:xfrm>
            <a:off x="3550920" y="3081655"/>
            <a:ext cx="2350135" cy="2237105"/>
          </a:xfrm>
          <a:custGeom>
            <a:avLst/>
            <a:gdLst>
              <a:gd name="connsiteX0" fmla="*/ 0 w 1281166"/>
              <a:gd name="connsiteY0" fmla="*/ 105669 h 1056694"/>
              <a:gd name="connsiteX1" fmla="*/ 105669 w 1281166"/>
              <a:gd name="connsiteY1" fmla="*/ 0 h 1056694"/>
              <a:gd name="connsiteX2" fmla="*/ 1175497 w 1281166"/>
              <a:gd name="connsiteY2" fmla="*/ 0 h 1056694"/>
              <a:gd name="connsiteX3" fmla="*/ 1281166 w 1281166"/>
              <a:gd name="connsiteY3" fmla="*/ 105669 h 1056694"/>
              <a:gd name="connsiteX4" fmla="*/ 1281166 w 1281166"/>
              <a:gd name="connsiteY4" fmla="*/ 951025 h 1056694"/>
              <a:gd name="connsiteX5" fmla="*/ 1175497 w 1281166"/>
              <a:gd name="connsiteY5" fmla="*/ 1056694 h 1056694"/>
              <a:gd name="connsiteX6" fmla="*/ 105669 w 1281166"/>
              <a:gd name="connsiteY6" fmla="*/ 1056694 h 1056694"/>
              <a:gd name="connsiteX7" fmla="*/ 0 w 1281166"/>
              <a:gd name="connsiteY7" fmla="*/ 951025 h 1056694"/>
              <a:gd name="connsiteX8" fmla="*/ 0 w 1281166"/>
              <a:gd name="connsiteY8" fmla="*/ 105669 h 105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1166" h="1056694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66227" rIns="66227" bIns="91440" numCol="1" spcCol="1270" anchor="t" anchorCtr="0">
            <a:noAutofit/>
          </a:bodyPr>
          <a:lstStyle/>
          <a:p>
            <a:pPr marL="228600" lvl="1" indent="-228600" defTabSz="9779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Freeform 8"/>
          <p:cNvSpPr/>
          <p:nvPr/>
        </p:nvSpPr>
        <p:spPr>
          <a:xfrm>
            <a:off x="3505835" y="2127885"/>
            <a:ext cx="2441575" cy="1313815"/>
          </a:xfrm>
          <a:custGeom>
            <a:avLst/>
            <a:gdLst>
              <a:gd name="connsiteX0" fmla="*/ 0 w 1138814"/>
              <a:gd name="connsiteY0" fmla="*/ 45287 h 452869"/>
              <a:gd name="connsiteX1" fmla="*/ 45287 w 1138814"/>
              <a:gd name="connsiteY1" fmla="*/ 0 h 452869"/>
              <a:gd name="connsiteX2" fmla="*/ 1093527 w 1138814"/>
              <a:gd name="connsiteY2" fmla="*/ 0 h 452869"/>
              <a:gd name="connsiteX3" fmla="*/ 1138814 w 1138814"/>
              <a:gd name="connsiteY3" fmla="*/ 45287 h 452869"/>
              <a:gd name="connsiteX4" fmla="*/ 1138814 w 1138814"/>
              <a:gd name="connsiteY4" fmla="*/ 407582 h 452869"/>
              <a:gd name="connsiteX5" fmla="*/ 1093527 w 1138814"/>
              <a:gd name="connsiteY5" fmla="*/ 452869 h 452869"/>
              <a:gd name="connsiteX6" fmla="*/ 45287 w 1138814"/>
              <a:gd name="connsiteY6" fmla="*/ 452869 h 452869"/>
              <a:gd name="connsiteX7" fmla="*/ 0 w 1138814"/>
              <a:gd name="connsiteY7" fmla="*/ 407582 h 452869"/>
              <a:gd name="connsiteX8" fmla="*/ 0 w 1138814"/>
              <a:gd name="connsiteY8" fmla="*/ 45287 h 45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8814" h="452869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142233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889" tIns="45014" rIns="60889" bIns="45014" numCol="1" spcCol="1270" anchor="ctr" anchorCtr="0">
            <a:noAutofit/>
          </a:bodyPr>
          <a:lstStyle/>
          <a:p>
            <a:pPr algn="ctr" defTabSz="11112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Freeform 10"/>
          <p:cNvSpPr/>
          <p:nvPr/>
        </p:nvSpPr>
        <p:spPr>
          <a:xfrm>
            <a:off x="6262370" y="2391410"/>
            <a:ext cx="2038350" cy="2390775"/>
          </a:xfrm>
          <a:custGeom>
            <a:avLst/>
            <a:gdLst>
              <a:gd name="connsiteX0" fmla="*/ 0 w 1281166"/>
              <a:gd name="connsiteY0" fmla="*/ 105669 h 1056694"/>
              <a:gd name="connsiteX1" fmla="*/ 105669 w 1281166"/>
              <a:gd name="connsiteY1" fmla="*/ 0 h 1056694"/>
              <a:gd name="connsiteX2" fmla="*/ 1175497 w 1281166"/>
              <a:gd name="connsiteY2" fmla="*/ 0 h 1056694"/>
              <a:gd name="connsiteX3" fmla="*/ 1281166 w 1281166"/>
              <a:gd name="connsiteY3" fmla="*/ 105669 h 1056694"/>
              <a:gd name="connsiteX4" fmla="*/ 1281166 w 1281166"/>
              <a:gd name="connsiteY4" fmla="*/ 951025 h 1056694"/>
              <a:gd name="connsiteX5" fmla="*/ 1175497 w 1281166"/>
              <a:gd name="connsiteY5" fmla="*/ 1056694 h 1056694"/>
              <a:gd name="connsiteX6" fmla="*/ 105669 w 1281166"/>
              <a:gd name="connsiteY6" fmla="*/ 1056694 h 1056694"/>
              <a:gd name="connsiteX7" fmla="*/ 0 w 1281166"/>
              <a:gd name="connsiteY7" fmla="*/ 951025 h 1056694"/>
              <a:gd name="connsiteX8" fmla="*/ 0 w 1281166"/>
              <a:gd name="connsiteY8" fmla="*/ 105669 h 105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1166" h="1056694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66227" rIns="66227" bIns="91440" numCol="1" spcCol="1270" anchor="t" anchorCtr="0">
            <a:noAutofit/>
          </a:bodyPr>
          <a:lstStyle/>
          <a:p>
            <a:pPr marL="228600" lvl="1" indent="-228600" defTabSz="9779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Freeform 11"/>
          <p:cNvSpPr/>
          <p:nvPr/>
        </p:nvSpPr>
        <p:spPr>
          <a:xfrm>
            <a:off x="6673215" y="4419600"/>
            <a:ext cx="1853565" cy="1951990"/>
          </a:xfrm>
          <a:custGeom>
            <a:avLst/>
            <a:gdLst>
              <a:gd name="connsiteX0" fmla="*/ 0 w 1138814"/>
              <a:gd name="connsiteY0" fmla="*/ 45287 h 452869"/>
              <a:gd name="connsiteX1" fmla="*/ 45287 w 1138814"/>
              <a:gd name="connsiteY1" fmla="*/ 0 h 452869"/>
              <a:gd name="connsiteX2" fmla="*/ 1093527 w 1138814"/>
              <a:gd name="connsiteY2" fmla="*/ 0 h 452869"/>
              <a:gd name="connsiteX3" fmla="*/ 1138814 w 1138814"/>
              <a:gd name="connsiteY3" fmla="*/ 45287 h 452869"/>
              <a:gd name="connsiteX4" fmla="*/ 1138814 w 1138814"/>
              <a:gd name="connsiteY4" fmla="*/ 407582 h 452869"/>
              <a:gd name="connsiteX5" fmla="*/ 1093527 w 1138814"/>
              <a:gd name="connsiteY5" fmla="*/ 452869 h 452869"/>
              <a:gd name="connsiteX6" fmla="*/ 45287 w 1138814"/>
              <a:gd name="connsiteY6" fmla="*/ 452869 h 452869"/>
              <a:gd name="connsiteX7" fmla="*/ 0 w 1138814"/>
              <a:gd name="connsiteY7" fmla="*/ 407582 h 452869"/>
              <a:gd name="connsiteX8" fmla="*/ 0 w 1138814"/>
              <a:gd name="connsiteY8" fmla="*/ 45287 h 45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8814" h="452869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142233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889" tIns="45014" rIns="60889" bIns="45014" numCol="1" spcCol="1270" anchor="ctr" anchorCtr="0">
            <a:noAutofit/>
          </a:bodyPr>
          <a:lstStyle/>
          <a:p>
            <a:pPr algn="ctr" defTabSz="11112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Shape 16"/>
          <p:cNvSpPr/>
          <p:nvPr/>
        </p:nvSpPr>
        <p:spPr>
          <a:xfrm>
            <a:off x="8160253" y="3685614"/>
            <a:ext cx="2483269" cy="2483269"/>
          </a:xfrm>
          <a:prstGeom prst="leftCircularArrow">
            <a:avLst>
              <a:gd name="adj1" fmla="val 2872"/>
              <a:gd name="adj2" fmla="val -892760"/>
              <a:gd name="adj3" fmla="val 2126668"/>
              <a:gd name="adj4" fmla="val 9024489"/>
              <a:gd name="adj5" fmla="val 12047"/>
            </a:avLst>
          </a:prstGeom>
          <a:solidFill>
            <a:schemeClr val="accent1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Freeform 18"/>
          <p:cNvSpPr/>
          <p:nvPr/>
        </p:nvSpPr>
        <p:spPr>
          <a:xfrm>
            <a:off x="8919845" y="2738755"/>
            <a:ext cx="1991995" cy="2476500"/>
          </a:xfrm>
          <a:custGeom>
            <a:avLst/>
            <a:gdLst>
              <a:gd name="connsiteX0" fmla="*/ 0 w 1281166"/>
              <a:gd name="connsiteY0" fmla="*/ 105669 h 1056694"/>
              <a:gd name="connsiteX1" fmla="*/ 105669 w 1281166"/>
              <a:gd name="connsiteY1" fmla="*/ 0 h 1056694"/>
              <a:gd name="connsiteX2" fmla="*/ 1175497 w 1281166"/>
              <a:gd name="connsiteY2" fmla="*/ 0 h 1056694"/>
              <a:gd name="connsiteX3" fmla="*/ 1281166 w 1281166"/>
              <a:gd name="connsiteY3" fmla="*/ 105669 h 1056694"/>
              <a:gd name="connsiteX4" fmla="*/ 1281166 w 1281166"/>
              <a:gd name="connsiteY4" fmla="*/ 951025 h 1056694"/>
              <a:gd name="connsiteX5" fmla="*/ 1175497 w 1281166"/>
              <a:gd name="connsiteY5" fmla="*/ 1056694 h 1056694"/>
              <a:gd name="connsiteX6" fmla="*/ 105669 w 1281166"/>
              <a:gd name="connsiteY6" fmla="*/ 1056694 h 1056694"/>
              <a:gd name="connsiteX7" fmla="*/ 0 w 1281166"/>
              <a:gd name="connsiteY7" fmla="*/ 951025 h 1056694"/>
              <a:gd name="connsiteX8" fmla="*/ 0 w 1281166"/>
              <a:gd name="connsiteY8" fmla="*/ 105669 h 105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1166" h="1056694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66227" rIns="66227" bIns="91440" numCol="1" spcCol="1270" anchor="t" anchorCtr="0">
            <a:noAutofit/>
          </a:bodyPr>
          <a:lstStyle/>
          <a:p>
            <a:pPr marL="228600" lvl="1" indent="-228600" defTabSz="9779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Freeform 19"/>
          <p:cNvSpPr/>
          <p:nvPr/>
        </p:nvSpPr>
        <p:spPr>
          <a:xfrm>
            <a:off x="9358023" y="2180947"/>
            <a:ext cx="1811671" cy="720443"/>
          </a:xfrm>
          <a:custGeom>
            <a:avLst/>
            <a:gdLst>
              <a:gd name="connsiteX0" fmla="*/ 0 w 1138814"/>
              <a:gd name="connsiteY0" fmla="*/ 45287 h 452869"/>
              <a:gd name="connsiteX1" fmla="*/ 45287 w 1138814"/>
              <a:gd name="connsiteY1" fmla="*/ 0 h 452869"/>
              <a:gd name="connsiteX2" fmla="*/ 1093527 w 1138814"/>
              <a:gd name="connsiteY2" fmla="*/ 0 h 452869"/>
              <a:gd name="connsiteX3" fmla="*/ 1138814 w 1138814"/>
              <a:gd name="connsiteY3" fmla="*/ 45287 h 452869"/>
              <a:gd name="connsiteX4" fmla="*/ 1138814 w 1138814"/>
              <a:gd name="connsiteY4" fmla="*/ 407582 h 452869"/>
              <a:gd name="connsiteX5" fmla="*/ 1093527 w 1138814"/>
              <a:gd name="connsiteY5" fmla="*/ 452869 h 452869"/>
              <a:gd name="connsiteX6" fmla="*/ 45287 w 1138814"/>
              <a:gd name="connsiteY6" fmla="*/ 452869 h 452869"/>
              <a:gd name="connsiteX7" fmla="*/ 0 w 1138814"/>
              <a:gd name="connsiteY7" fmla="*/ 407582 h 452869"/>
              <a:gd name="connsiteX8" fmla="*/ 0 w 1138814"/>
              <a:gd name="connsiteY8" fmla="*/ 45287 h 45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8814" h="452869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142233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0889" tIns="45014" rIns="60889" bIns="45014" numCol="1" spcCol="1270" anchor="ctr" anchorCtr="0">
            <a:noAutofit/>
          </a:bodyPr>
          <a:lstStyle/>
          <a:p>
            <a:pPr algn="ctr" defTabSz="11112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68780" y="4341495"/>
            <a:ext cx="168148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b="1" dirty="0">
                <a:solidFill>
                  <a:schemeClr val="bg1"/>
                </a:solidFill>
                <a:cs typeface="+mn-ea"/>
                <a:sym typeface="+mn-lt"/>
              </a:rPr>
              <a:t>Creative Freedom</a:t>
            </a:r>
            <a:endParaRPr lang="en-US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93770" y="2128520"/>
            <a:ext cx="2406650" cy="1104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b="1" dirty="0">
                <a:solidFill>
                  <a:schemeClr val="bg1"/>
                </a:solidFill>
                <a:cs typeface="+mn-ea"/>
                <a:sym typeface="+mn-lt"/>
              </a:rPr>
              <a:t>Unique &amp; Personal Topic</a:t>
            </a:r>
            <a:endParaRPr lang="en-US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57035" y="4419600"/>
            <a:ext cx="193611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b="1" dirty="0">
                <a:solidFill>
                  <a:schemeClr val="bg1"/>
                </a:solidFill>
                <a:cs typeface="+mn-ea"/>
                <a:sym typeface="+mn-lt"/>
              </a:rPr>
              <a:t>Product-Based Design Practice</a:t>
            </a:r>
            <a:endParaRPr lang="en-US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453245" y="2181860"/>
            <a:ext cx="1715770" cy="718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IN" altLang="zh-CN" sz="2400" b="1" dirty="0">
                <a:solidFill>
                  <a:schemeClr val="bg1"/>
                </a:solidFill>
                <a:cs typeface="+mn-ea"/>
                <a:sym typeface="+mn-lt"/>
              </a:rPr>
              <a:t>exploring</a:t>
            </a:r>
            <a:endParaRPr lang="en-IN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9130" y="3100705"/>
            <a:ext cx="2303780" cy="12407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1216660">
              <a:lnSpc>
                <a:spcPct val="120000"/>
              </a:lnSpc>
              <a:spcBef>
                <a:spcPct val="0"/>
              </a:spcBef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Perfume has many varieties—floral, woody, spicy, etc.—and each type can inspire different colors, layouts, and moods on the site.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65550" y="3463290"/>
            <a:ext cx="1846580" cy="24739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1216660">
              <a:lnSpc>
                <a:spcPct val="120000"/>
              </a:lnSpc>
              <a:spcBef>
                <a:spcPct val="0"/>
              </a:spcBef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Many websites are made for tech, food, or fashion. Perfume is a less common but rich topic that stands out and reflects my personal interest.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0"/>
              </a:spcBef>
            </a:pP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0"/>
              </a:spcBef>
            </a:pP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78595" y="2900680"/>
            <a:ext cx="1685290" cy="23145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1216660">
              <a:lnSpc>
                <a:spcPct val="120000"/>
              </a:lnSpc>
              <a:spcBef>
                <a:spcPct val="0"/>
              </a:spcBef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Designing a website around perfume allowed me to explore a visually appealing and emotionally rich subject that connects with people on a deeper level.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5" name="文本框 212"/>
          <p:cNvSpPr txBox="1">
            <a:spLocks noChangeArrowheads="1"/>
          </p:cNvSpPr>
          <p:nvPr/>
        </p:nvSpPr>
        <p:spPr bwMode="auto">
          <a:xfrm>
            <a:off x="898642" y="632764"/>
            <a:ext cx="7180146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3pPr>
            <a:lvl4pPr marL="16002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4pPr>
            <a:lvl5pPr marL="2057400" indent="-228600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Segoe UI" panose="020B0502040204020203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en-US" altLang="zh-CN" sz="140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ea"/>
                <a:sym typeface="+mn-lt"/>
              </a:rPr>
              <a:t> </a:t>
            </a:r>
            <a:endParaRPr lang="zh-CN" altLang="en-US" sz="14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92175" y="200025"/>
            <a:ext cx="818705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b="1" dirty="0">
                <a:solidFill>
                  <a:schemeClr val="bg1"/>
                </a:solidFill>
                <a:cs typeface="+mn-ea"/>
                <a:sym typeface="+mn-lt"/>
              </a:rPr>
              <a:t>Why I Chose "Perfume" as the Topic</a:t>
            </a:r>
            <a:endParaRPr lang="en-US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>
            <p:custDataLst>
              <p:tags r:id="rId1"/>
            </p:custDataLst>
          </p:nvPr>
        </p:nvGrpSpPr>
        <p:grpSpPr>
          <a:xfrm>
            <a:off x="319026" y="372249"/>
            <a:ext cx="407472" cy="407472"/>
            <a:chOff x="-1828799" y="-88608"/>
            <a:chExt cx="754743" cy="754743"/>
          </a:xfrm>
        </p:grpSpPr>
        <p:sp>
          <p:nvSpPr>
            <p:cNvPr id="32" name="椭圆 31"/>
            <p:cNvSpPr/>
            <p:nvPr/>
          </p:nvSpPr>
          <p:spPr>
            <a:xfrm>
              <a:off x="-1828799" y="-88608"/>
              <a:ext cx="754743" cy="75474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-1609562" y="130629"/>
              <a:ext cx="316268" cy="316268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 Box 17"/>
          <p:cNvSpPr txBox="1"/>
          <p:nvPr/>
        </p:nvSpPr>
        <p:spPr>
          <a:xfrm>
            <a:off x="6355715" y="2391410"/>
            <a:ext cx="1821180" cy="2005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Creating a perfume website helped me practice e-commerce elements, like product displays,</a:t>
            </a:r>
            <a:r>
              <a:rPr lang="en-I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buying it and doing payment done </a:t>
            </a:r>
            <a:endParaRPr lang="en-IN" altLang="en-US" sz="1400" dirty="0" smtClean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44340" y="3429000"/>
            <a:ext cx="3698240" cy="829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IN" altLang="zh-CN" sz="3200" b="1" dirty="0">
                <a:solidFill>
                  <a:schemeClr val="bg1"/>
                </a:solidFill>
                <a:cs typeface="+mn-ea"/>
                <a:sym typeface="+mn-lt"/>
              </a:rPr>
              <a:t>MY WEB PAGE </a:t>
            </a:r>
            <a:endParaRPr lang="en-IN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39995" y="2406015"/>
            <a:ext cx="2112645" cy="881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60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03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892175" y="200025"/>
            <a:ext cx="33140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b="1" dirty="0">
                <a:solidFill>
                  <a:schemeClr val="bg1"/>
                </a:solidFill>
                <a:cs typeface="+mn-ea"/>
                <a:sym typeface="+mn-lt"/>
              </a:rPr>
              <a:t>MY WEB PAGE </a:t>
            </a:r>
            <a:endParaRPr lang="en-IN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5" name="组合 34"/>
          <p:cNvGrpSpPr/>
          <p:nvPr>
            <p:custDataLst>
              <p:tags r:id="rId1"/>
            </p:custDataLst>
          </p:nvPr>
        </p:nvGrpSpPr>
        <p:grpSpPr>
          <a:xfrm>
            <a:off x="319026" y="372249"/>
            <a:ext cx="407472" cy="407472"/>
            <a:chOff x="-1828799" y="-88608"/>
            <a:chExt cx="754743" cy="754743"/>
          </a:xfrm>
        </p:grpSpPr>
        <p:sp>
          <p:nvSpPr>
            <p:cNvPr id="36" name="椭圆 35"/>
            <p:cNvSpPr/>
            <p:nvPr/>
          </p:nvSpPr>
          <p:spPr>
            <a:xfrm>
              <a:off x="-1828799" y="-88608"/>
              <a:ext cx="754743" cy="75474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-1609562" y="130629"/>
              <a:ext cx="316268" cy="316268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25" name="Picture 24"/>
          <p:cNvPicPr/>
          <p:nvPr/>
        </p:nvPicPr>
        <p:blipFill>
          <a:blip r:embed="rId2"/>
          <a:stretch>
            <a:fillRect/>
          </a:stretch>
        </p:blipFill>
        <p:spPr>
          <a:xfrm>
            <a:off x="518795" y="779780"/>
            <a:ext cx="5723255" cy="3224530"/>
          </a:xfrm>
          <a:prstGeom prst="rect">
            <a:avLst/>
          </a:prstGeom>
        </p:spPr>
      </p:pic>
      <p:pic>
        <p:nvPicPr>
          <p:cNvPr id="31" name="Picture 30"/>
          <p:cNvPicPr/>
          <p:nvPr/>
        </p:nvPicPr>
        <p:blipFill>
          <a:blip r:embed="rId3"/>
          <a:stretch>
            <a:fillRect/>
          </a:stretch>
        </p:blipFill>
        <p:spPr>
          <a:xfrm>
            <a:off x="6331585" y="779780"/>
            <a:ext cx="5852795" cy="3224530"/>
          </a:xfrm>
          <a:prstGeom prst="rect">
            <a:avLst/>
          </a:prstGeom>
        </p:spPr>
      </p:pic>
      <p:sp>
        <p:nvSpPr>
          <p:cNvPr id="32" name="Text Box 31"/>
          <p:cNvSpPr txBox="1"/>
          <p:nvPr/>
        </p:nvSpPr>
        <p:spPr>
          <a:xfrm>
            <a:off x="518795" y="4833620"/>
            <a:ext cx="3415665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en-IN" altLang="en-US" dirty="0" smtClean="0">
                <a:solidFill>
                  <a:schemeClr val="bg1"/>
                </a:solidFill>
                <a:latin typeface="Algerian" panose="04020705040A02060702" charset="0"/>
                <a:ea typeface="Microsoft YaHei" panose="020B0503020204020204" pitchFamily="34" charset="-122"/>
                <a:cs typeface="Algerian" panose="04020705040A02060702" charset="0"/>
              </a:rPr>
              <a:t>CONTAINS HOME PAGE </a:t>
            </a:r>
            <a:endParaRPr lang="en-IN" altLang="en-US" dirty="0" smtClean="0">
              <a:solidFill>
                <a:schemeClr val="bg1"/>
              </a:solidFill>
              <a:latin typeface="Algerian" panose="04020705040A02060702" charset="0"/>
              <a:ea typeface="Microsoft YaHei" panose="020B0503020204020204" pitchFamily="34" charset="-122"/>
              <a:cs typeface="Algerian" panose="04020705040A02060702" charset="0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2344840" y="3505936"/>
            <a:ext cx="2483269" cy="2483269"/>
          </a:xfrm>
          <a:prstGeom prst="leftCircularArrow">
            <a:avLst>
              <a:gd name="adj1" fmla="val 2872"/>
              <a:gd name="adj2" fmla="val 351158"/>
              <a:gd name="adj3" fmla="val 2126668"/>
              <a:gd name="adj4" fmla="val 9024489"/>
              <a:gd name="adj5" fmla="val 3351"/>
            </a:avLst>
          </a:prstGeom>
          <a:solidFill>
            <a:schemeClr val="accent1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pPr>
              <a:lnSpc>
                <a:spcPct val="120000"/>
              </a:lnSpc>
            </a:pP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8031480" y="4707255"/>
            <a:ext cx="406400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IN" altLang="en-US" dirty="0" smtClean="0">
                <a:solidFill>
                  <a:schemeClr val="bg1"/>
                </a:solidFill>
                <a:latin typeface="Algerian" panose="04020705040A02060702" charset="0"/>
                <a:ea typeface="Microsoft YaHei" panose="020B0503020204020204" pitchFamily="34" charset="-122"/>
                <a:cs typeface="Algerian" panose="04020705040A02060702" charset="0"/>
              </a:rPr>
              <a:t>CONTAINS PRODUCT WITH RANGE</a:t>
            </a:r>
            <a:endParaRPr lang="en-IN" altLang="en-US" dirty="0" smtClean="0">
              <a:solidFill>
                <a:schemeClr val="bg1"/>
              </a:solidFill>
              <a:latin typeface="Algerian" panose="04020705040A02060702" charset="0"/>
              <a:ea typeface="Microsoft YaHei" panose="020B0503020204020204" pitchFamily="34" charset="-122"/>
              <a:cs typeface="Algerian" panose="04020705040A02060702" charset="0"/>
            </a:endParaRPr>
          </a:p>
        </p:txBody>
      </p:sp>
      <p:sp>
        <p:nvSpPr>
          <p:cNvPr id="39" name="Circular Arrow 5"/>
          <p:cNvSpPr/>
          <p:nvPr/>
        </p:nvSpPr>
        <p:spPr>
          <a:xfrm rot="11640000">
            <a:off x="7198707" y="3357867"/>
            <a:ext cx="2779163" cy="2779163"/>
          </a:xfrm>
          <a:prstGeom prst="circularArrow">
            <a:avLst>
              <a:gd name="adj1" fmla="val 2567"/>
              <a:gd name="adj2" fmla="val 311540"/>
              <a:gd name="adj3" fmla="val 19512949"/>
              <a:gd name="adj4" fmla="val 12575511"/>
              <a:gd name="adj5" fmla="val 2994"/>
            </a:avLst>
          </a:prstGeom>
          <a:solidFill>
            <a:schemeClr val="accent2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pPr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422275" y="-635"/>
            <a:ext cx="11195685" cy="52781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22275" y="5777865"/>
            <a:ext cx="6588760" cy="549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IN" altLang="en-US" dirty="0" smtClean="0">
                <a:solidFill>
                  <a:schemeClr val="bg1"/>
                </a:solidFill>
                <a:latin typeface="Algerian" panose="04020705040A02060702" charset="0"/>
                <a:ea typeface="Microsoft YaHei" panose="020B0503020204020204" pitchFamily="34" charset="-122"/>
                <a:cs typeface="Algerian" panose="04020705040A02060702" charset="0"/>
              </a:rPr>
              <a:t>CONTAINS ABOUT US AS WELL AS CONTACT </a:t>
            </a:r>
            <a:endParaRPr lang="en-IN" altLang="en-US" dirty="0" smtClean="0">
              <a:solidFill>
                <a:schemeClr val="bg1"/>
              </a:solidFill>
              <a:latin typeface="Algerian" panose="04020705040A02060702" charset="0"/>
              <a:ea typeface="Microsoft YaHei" panose="020B0503020204020204" pitchFamily="34" charset="-122"/>
              <a:cs typeface="Algerian" panose="04020705040A02060702" charset="0"/>
            </a:endParaRPr>
          </a:p>
        </p:txBody>
      </p:sp>
      <p:sp>
        <p:nvSpPr>
          <p:cNvPr id="4" name="Shape 3"/>
          <p:cNvSpPr/>
          <p:nvPr/>
        </p:nvSpPr>
        <p:spPr>
          <a:xfrm rot="20580000">
            <a:off x="5889410" y="4237456"/>
            <a:ext cx="2483269" cy="2483269"/>
          </a:xfrm>
          <a:prstGeom prst="leftCircularArrow">
            <a:avLst>
              <a:gd name="adj1" fmla="val 2872"/>
              <a:gd name="adj2" fmla="val 351158"/>
              <a:gd name="adj3" fmla="val 2126668"/>
              <a:gd name="adj4" fmla="val 9024489"/>
              <a:gd name="adj5" fmla="val 3351"/>
            </a:avLst>
          </a:prstGeom>
          <a:solidFill>
            <a:schemeClr val="accent1"/>
          </a:solidFill>
        </p:spPr>
        <p:style>
          <a:lnRef idx="0">
            <a:schemeClr val="accent5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>
            <a:pPr>
              <a:lnSpc>
                <a:spcPct val="120000"/>
              </a:lnSpc>
            </a:pP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161290" y="664210"/>
            <a:ext cx="5934710" cy="250507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6197600" y="3655060"/>
            <a:ext cx="5724525" cy="241490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614795" y="812800"/>
            <a:ext cx="5497830" cy="189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</a:pPr>
            <a:r>
              <a:rPr lang="en-IN" altLang="en-US" dirty="0" smtClean="0">
                <a:solidFill>
                  <a:schemeClr val="bg1"/>
                </a:solidFill>
                <a:latin typeface="Algerian" panose="04020705040A02060702" charset="0"/>
                <a:ea typeface="Microsoft YaHei" panose="020B0503020204020204" pitchFamily="34" charset="-122"/>
                <a:cs typeface="Algerian" panose="04020705040A02060702" charset="0"/>
              </a:rPr>
              <a:t>WHEN YOU CLICK (BUY NOW) THIS APPARES AND ASK YOUR PERMISSION TO PROCEED YOUR PAYMENT</a:t>
            </a:r>
            <a:endParaRPr lang="en-IN" altLang="en-US" dirty="0" smtClean="0">
              <a:solidFill>
                <a:schemeClr val="bg1"/>
              </a:solidFill>
              <a:latin typeface="Algerian" panose="04020705040A02060702" charset="0"/>
              <a:ea typeface="Microsoft YaHei" panose="020B0503020204020204" pitchFamily="34" charset="-122"/>
              <a:cs typeface="Algerian" panose="04020705040A02060702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53365" y="4346575"/>
            <a:ext cx="5843270" cy="197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</a:pPr>
            <a:r>
              <a:rPr lang="en-IN" altLang="en-US" dirty="0" smtClean="0">
                <a:solidFill>
                  <a:schemeClr val="bg1"/>
                </a:solidFill>
                <a:latin typeface="Algerian" panose="04020705040A02060702" charset="0"/>
                <a:ea typeface="Microsoft YaHei" panose="020B0503020204020204" pitchFamily="34" charset="-122"/>
                <a:cs typeface="Algerian" panose="04020705040A02060702" charset="0"/>
              </a:rPr>
              <a:t>WHEN YOU PROCEED FOR YOUR PAYMENT IT ASK YOU FOR REDIRECTING TO YOUR PAYMENT GATEWAY </a:t>
            </a:r>
            <a:endParaRPr lang="en-IN" altLang="en-US" dirty="0" smtClean="0">
              <a:solidFill>
                <a:schemeClr val="bg1"/>
              </a:solidFill>
              <a:latin typeface="Algerian" panose="04020705040A02060702" charset="0"/>
              <a:ea typeface="Microsoft YaHei" panose="020B0503020204020204" pitchFamily="34" charset="-122"/>
              <a:cs typeface="Algerian" panose="04020705040A0206070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31335" y="3220085"/>
            <a:ext cx="400685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altLang="zh-CN" sz="3200" b="1" dirty="0">
                <a:solidFill>
                  <a:schemeClr val="bg1"/>
                </a:solidFill>
                <a:cs typeface="+mn-ea"/>
                <a:sym typeface="+mn-lt"/>
              </a:rPr>
              <a:t>LEARNING OUTCOME</a:t>
            </a:r>
            <a:endParaRPr lang="en-IN" altLang="zh-CN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39745" y="2119343"/>
            <a:ext cx="2112510" cy="1167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60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04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"/>
          <p:cNvSpPr/>
          <p:nvPr/>
        </p:nvSpPr>
        <p:spPr>
          <a:xfrm>
            <a:off x="3181402" y="1950042"/>
            <a:ext cx="6610773" cy="4131733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bg1">
              <a:lumMod val="50000"/>
              <a:alpha val="20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668822" y="5572760"/>
            <a:ext cx="2261236" cy="660400"/>
            <a:chOff x="1752600" y="4179570"/>
            <a:chExt cx="1695927" cy="495300"/>
          </a:xfrm>
        </p:grpSpPr>
        <p:sp>
          <p:nvSpPr>
            <p:cNvPr id="9" name="Oval 8"/>
            <p:cNvSpPr/>
            <p:nvPr/>
          </p:nvSpPr>
          <p:spPr>
            <a:xfrm>
              <a:off x="2263140" y="4179570"/>
              <a:ext cx="128910" cy="12891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1752600" y="4320064"/>
              <a:ext cx="1695927" cy="354806"/>
            </a:xfrm>
            <a:custGeom>
              <a:avLst/>
              <a:gdLst>
                <a:gd name="connsiteX0" fmla="*/ 0 w 1155232"/>
                <a:gd name="connsiteY0" fmla="*/ 0 h 895553"/>
                <a:gd name="connsiteX1" fmla="*/ 1155232 w 1155232"/>
                <a:gd name="connsiteY1" fmla="*/ 0 h 895553"/>
                <a:gd name="connsiteX2" fmla="*/ 1155232 w 1155232"/>
                <a:gd name="connsiteY2" fmla="*/ 895553 h 895553"/>
                <a:gd name="connsiteX3" fmla="*/ 0 w 1155232"/>
                <a:gd name="connsiteY3" fmla="*/ 895553 h 895553"/>
                <a:gd name="connsiteX4" fmla="*/ 0 w 1155232"/>
                <a:gd name="connsiteY4" fmla="*/ 0 h 895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232" h="895553">
                  <a:moveTo>
                    <a:pt x="0" y="0"/>
                  </a:moveTo>
                  <a:lnTo>
                    <a:pt x="1155232" y="0"/>
                  </a:lnTo>
                  <a:lnTo>
                    <a:pt x="1155232" y="895553"/>
                  </a:lnTo>
                  <a:lnTo>
                    <a:pt x="0" y="89555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076" tIns="0" rIns="0" bIns="0" numCol="1" spcCol="1270" anchor="t" anchorCtr="0">
              <a:noAutofit/>
            </a:bodyPr>
            <a:lstStyle/>
            <a:p>
              <a:pPr algn="ctr" defTabSz="10668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65" dirty="0">
                  <a:solidFill>
                    <a:schemeClr val="bg1"/>
                  </a:solidFill>
                  <a:cs typeface="+mn-ea"/>
                  <a:sym typeface="+mn-lt"/>
                </a:rPr>
                <a:t>Understanding the Web Design Process</a:t>
              </a:r>
              <a:endParaRPr lang="en-US" altLang="en-US" sz="1865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608622" y="4466836"/>
            <a:ext cx="2108200" cy="961389"/>
            <a:chOff x="2457450" y="3350126"/>
            <a:chExt cx="1581150" cy="721042"/>
          </a:xfrm>
        </p:grpSpPr>
        <p:sp>
          <p:nvSpPr>
            <p:cNvPr id="12" name="Oval 11"/>
            <p:cNvSpPr/>
            <p:nvPr/>
          </p:nvSpPr>
          <p:spPr>
            <a:xfrm>
              <a:off x="2956560" y="3350126"/>
              <a:ext cx="233029" cy="23302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shade val="80000"/>
                <a:hueOff val="102612"/>
                <a:satOff val="-1116"/>
                <a:lumOff val="12789"/>
                <a:alphaOff val="0"/>
              </a:schemeClr>
            </a:fillRef>
            <a:effectRef idx="0">
              <a:schemeClr val="accent5">
                <a:shade val="80000"/>
                <a:hueOff val="102612"/>
                <a:satOff val="-1116"/>
                <a:lumOff val="1278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2457450" y="3655402"/>
              <a:ext cx="1581150" cy="415766"/>
            </a:xfrm>
            <a:custGeom>
              <a:avLst/>
              <a:gdLst>
                <a:gd name="connsiteX0" fmla="*/ 0 w 1189939"/>
                <a:gd name="connsiteY0" fmla="*/ 0 h 1685747"/>
                <a:gd name="connsiteX1" fmla="*/ 1189939 w 1189939"/>
                <a:gd name="connsiteY1" fmla="*/ 0 h 1685747"/>
                <a:gd name="connsiteX2" fmla="*/ 1189939 w 1189939"/>
                <a:gd name="connsiteY2" fmla="*/ 1685747 h 1685747"/>
                <a:gd name="connsiteX3" fmla="*/ 0 w 1189939"/>
                <a:gd name="connsiteY3" fmla="*/ 1685747 h 1685747"/>
                <a:gd name="connsiteX4" fmla="*/ 0 w 1189939"/>
                <a:gd name="connsiteY4" fmla="*/ 0 h 168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39" h="1685747">
                  <a:moveTo>
                    <a:pt x="0" y="0"/>
                  </a:moveTo>
                  <a:lnTo>
                    <a:pt x="1189939" y="0"/>
                  </a:lnTo>
                  <a:lnTo>
                    <a:pt x="1189939" y="1685747"/>
                  </a:lnTo>
                  <a:lnTo>
                    <a:pt x="0" y="16857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4637" tIns="0" rIns="0" bIns="0" numCol="1" spcCol="1270" anchor="t" anchorCtr="0">
              <a:noAutofit/>
            </a:bodyPr>
            <a:lstStyle/>
            <a:p>
              <a:pPr algn="ctr" defTabSz="10668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65" dirty="0">
                  <a:solidFill>
                    <a:schemeClr val="bg1"/>
                  </a:solidFill>
                  <a:cs typeface="+mn-ea"/>
                  <a:sym typeface="+mn-lt"/>
                </a:rPr>
                <a:t> Improved HTML &amp; CSS Skills</a:t>
              </a:r>
              <a:endParaRPr lang="en-US" altLang="en-US" sz="1865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53686" y="3559929"/>
            <a:ext cx="2985770" cy="1204595"/>
            <a:chOff x="3541248" y="2669946"/>
            <a:chExt cx="2239328" cy="903446"/>
          </a:xfrm>
        </p:grpSpPr>
        <p:sp>
          <p:nvSpPr>
            <p:cNvPr id="15" name="Oval 14"/>
            <p:cNvSpPr/>
            <p:nvPr/>
          </p:nvSpPr>
          <p:spPr>
            <a:xfrm>
              <a:off x="4038600" y="2669946"/>
              <a:ext cx="322275" cy="322275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shade val="80000"/>
                <a:hueOff val="205224"/>
                <a:satOff val="-2235"/>
                <a:lumOff val="25579"/>
                <a:alphaOff val="0"/>
              </a:schemeClr>
            </a:fillRef>
            <a:effectRef idx="0">
              <a:schemeClr val="accent5">
                <a:shade val="80000"/>
                <a:hueOff val="205224"/>
                <a:satOff val="-2235"/>
                <a:lumOff val="2557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3541248" y="3070948"/>
              <a:ext cx="2239328" cy="502444"/>
            </a:xfrm>
            <a:custGeom>
              <a:avLst/>
              <a:gdLst>
                <a:gd name="connsiteX0" fmla="*/ 0 w 1189939"/>
                <a:gd name="connsiteY0" fmla="*/ 0 h 2153666"/>
                <a:gd name="connsiteX1" fmla="*/ 1189939 w 1189939"/>
                <a:gd name="connsiteY1" fmla="*/ 0 h 2153666"/>
                <a:gd name="connsiteX2" fmla="*/ 1189939 w 1189939"/>
                <a:gd name="connsiteY2" fmla="*/ 2153666 h 2153666"/>
                <a:gd name="connsiteX3" fmla="*/ 0 w 1189939"/>
                <a:gd name="connsiteY3" fmla="*/ 2153666 h 2153666"/>
                <a:gd name="connsiteX4" fmla="*/ 0 w 1189939"/>
                <a:gd name="connsiteY4" fmla="*/ 0 h 215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39" h="2153666">
                  <a:moveTo>
                    <a:pt x="0" y="0"/>
                  </a:moveTo>
                  <a:lnTo>
                    <a:pt x="1189939" y="0"/>
                  </a:lnTo>
                  <a:lnTo>
                    <a:pt x="1189939" y="2153666"/>
                  </a:lnTo>
                  <a:lnTo>
                    <a:pt x="0" y="21536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7689" tIns="0" rIns="0" bIns="0" numCol="1" spcCol="1270" anchor="t" anchorCtr="0">
              <a:noAutofit/>
            </a:bodyPr>
            <a:lstStyle/>
            <a:p>
              <a:pPr algn="ctr" defTabSz="10668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65" dirty="0">
                  <a:solidFill>
                    <a:schemeClr val="bg1"/>
                  </a:solidFill>
                  <a:cs typeface="+mn-ea"/>
                  <a:sym typeface="+mn-lt"/>
                </a:rPr>
                <a:t>User Interface (UI) &amp; User Experience (UX) Design</a:t>
              </a:r>
              <a:endParaRPr lang="en-US" altLang="en-US" sz="1865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383846" y="2089788"/>
            <a:ext cx="2306956" cy="1476171"/>
            <a:chOff x="4458858" y="1567340"/>
            <a:chExt cx="1730217" cy="1107128"/>
          </a:xfrm>
        </p:grpSpPr>
        <p:sp>
          <p:nvSpPr>
            <p:cNvPr id="18" name="Oval 17"/>
            <p:cNvSpPr/>
            <p:nvPr/>
          </p:nvSpPr>
          <p:spPr>
            <a:xfrm>
              <a:off x="5223809" y="2190750"/>
              <a:ext cx="483718" cy="48371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shade val="80000"/>
                <a:hueOff val="205224"/>
                <a:satOff val="-2235"/>
                <a:lumOff val="25579"/>
                <a:alphaOff val="0"/>
              </a:schemeClr>
            </a:fillRef>
            <a:effectRef idx="0">
              <a:schemeClr val="accent5">
                <a:shade val="80000"/>
                <a:hueOff val="205224"/>
                <a:satOff val="-2235"/>
                <a:lumOff val="2557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4458858" y="1567340"/>
              <a:ext cx="1730217" cy="623411"/>
            </a:xfrm>
            <a:custGeom>
              <a:avLst/>
              <a:gdLst>
                <a:gd name="connsiteX0" fmla="*/ 0 w 1189939"/>
                <a:gd name="connsiteY0" fmla="*/ 0 h 2153666"/>
                <a:gd name="connsiteX1" fmla="*/ 1189939 w 1189939"/>
                <a:gd name="connsiteY1" fmla="*/ 0 h 2153666"/>
                <a:gd name="connsiteX2" fmla="*/ 1189939 w 1189939"/>
                <a:gd name="connsiteY2" fmla="*/ 2153666 h 2153666"/>
                <a:gd name="connsiteX3" fmla="*/ 0 w 1189939"/>
                <a:gd name="connsiteY3" fmla="*/ 2153666 h 2153666"/>
                <a:gd name="connsiteX4" fmla="*/ 0 w 1189939"/>
                <a:gd name="connsiteY4" fmla="*/ 0 h 215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39" h="2153666">
                  <a:moveTo>
                    <a:pt x="0" y="0"/>
                  </a:moveTo>
                  <a:lnTo>
                    <a:pt x="1189939" y="0"/>
                  </a:lnTo>
                  <a:lnTo>
                    <a:pt x="1189939" y="2153666"/>
                  </a:lnTo>
                  <a:lnTo>
                    <a:pt x="0" y="21536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7689" tIns="0" rIns="0" bIns="0" numCol="1" spcCol="1270" anchor="t" anchorCtr="0">
              <a:noAutofit/>
            </a:bodyPr>
            <a:lstStyle/>
            <a:p>
              <a:pPr algn="ctr" defTabSz="10668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IN" altLang="en-US" sz="1860" dirty="0">
                  <a:solidFill>
                    <a:schemeClr val="bg1"/>
                  </a:solidFill>
                  <a:cs typeface="+mn-ea"/>
                  <a:sym typeface="+mn-lt"/>
                </a:rPr>
                <a:t>P</a:t>
              </a:r>
              <a:r>
                <a:rPr lang="en-US" altLang="en-US" sz="1860" dirty="0">
                  <a:solidFill>
                    <a:schemeClr val="bg1"/>
                  </a:solidFill>
                  <a:cs typeface="+mn-ea"/>
                  <a:sym typeface="+mn-lt"/>
                </a:rPr>
                <a:t>roblem-Solving &amp; Debuggin</a:t>
              </a:r>
              <a:endParaRPr lang="en-US" sz="1865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0" name="Elbow Connector 19"/>
          <p:cNvCxnSpPr/>
          <p:nvPr/>
        </p:nvCxnSpPr>
        <p:spPr>
          <a:xfrm rot="10800000">
            <a:off x="1754421" y="4404191"/>
            <a:ext cx="1677452" cy="1250899"/>
          </a:xfrm>
          <a:prstGeom prst="bentConnector3">
            <a:avLst>
              <a:gd name="adj1" fmla="val -726"/>
            </a:avLst>
          </a:prstGeom>
          <a:ln w="3175">
            <a:solidFill>
              <a:schemeClr val="bg1">
                <a:lumMod val="6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02022" y="4538663"/>
            <a:ext cx="1737556" cy="86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Learned how to plan, structure, and design a website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2" name="Elbow Connector 21"/>
          <p:cNvCxnSpPr/>
          <p:nvPr/>
        </p:nvCxnSpPr>
        <p:spPr>
          <a:xfrm rot="16200000" flipV="1">
            <a:off x="2946511" y="3027457"/>
            <a:ext cx="1342635" cy="1685484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16990" y="3307715"/>
            <a:ext cx="2957195" cy="112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Mastered using HTML for content structure .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>
              <a:lnSpc>
                <a:spcPct val="120000"/>
              </a:lnSpc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Practiced advanced CSS styling techniques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4" name="Elbow Connector 23"/>
          <p:cNvCxnSpPr/>
          <p:nvPr/>
        </p:nvCxnSpPr>
        <p:spPr>
          <a:xfrm rot="10800000">
            <a:off x="4213142" y="2108202"/>
            <a:ext cx="1719581" cy="1644653"/>
          </a:xfrm>
          <a:prstGeom prst="bentConnector3">
            <a:avLst>
              <a:gd name="adj1" fmla="val -222"/>
            </a:avLst>
          </a:prstGeom>
          <a:ln w="3175">
            <a:solidFill>
              <a:schemeClr val="bg1">
                <a:lumMod val="6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56660" y="2090420"/>
            <a:ext cx="2175510" cy="152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en-US" sz="1400" dirty="0">
                <a:solidFill>
                  <a:schemeClr val="bg1"/>
                </a:solidFill>
                <a:cs typeface="+mn-ea"/>
                <a:sym typeface="+mn-lt"/>
              </a:rPr>
              <a:t>Improved understanding of how design choices affect user interaction and engagement</a:t>
            </a:r>
            <a:endParaRPr lang="en-US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8683541" y="2324201"/>
            <a:ext cx="1984459" cy="1779899"/>
            <a:chOff x="6263640" y="1743151"/>
            <a:chExt cx="1488344" cy="1334924"/>
          </a:xfrm>
        </p:grpSpPr>
        <p:sp>
          <p:nvSpPr>
            <p:cNvPr id="31" name="Oval 30"/>
            <p:cNvSpPr/>
            <p:nvPr/>
          </p:nvSpPr>
          <p:spPr>
            <a:xfrm>
              <a:off x="6700856" y="1743151"/>
              <a:ext cx="788518" cy="788518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shade val="80000"/>
                <a:hueOff val="205224"/>
                <a:satOff val="-2235"/>
                <a:lumOff val="25579"/>
                <a:alphaOff val="0"/>
              </a:schemeClr>
            </a:fillRef>
            <a:effectRef idx="0">
              <a:schemeClr val="accent5">
                <a:shade val="80000"/>
                <a:hueOff val="205224"/>
                <a:satOff val="-2235"/>
                <a:lumOff val="2557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6263640" y="2575408"/>
              <a:ext cx="1488344" cy="502667"/>
            </a:xfrm>
            <a:custGeom>
              <a:avLst/>
              <a:gdLst>
                <a:gd name="connsiteX0" fmla="*/ 0 w 1189939"/>
                <a:gd name="connsiteY0" fmla="*/ 0 h 2153666"/>
                <a:gd name="connsiteX1" fmla="*/ 1189939 w 1189939"/>
                <a:gd name="connsiteY1" fmla="*/ 0 h 2153666"/>
                <a:gd name="connsiteX2" fmla="*/ 1189939 w 1189939"/>
                <a:gd name="connsiteY2" fmla="*/ 2153666 h 2153666"/>
                <a:gd name="connsiteX3" fmla="*/ 0 w 1189939"/>
                <a:gd name="connsiteY3" fmla="*/ 2153666 h 2153666"/>
                <a:gd name="connsiteX4" fmla="*/ 0 w 1189939"/>
                <a:gd name="connsiteY4" fmla="*/ 0 h 215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39" h="2153666">
                  <a:moveTo>
                    <a:pt x="0" y="0"/>
                  </a:moveTo>
                  <a:lnTo>
                    <a:pt x="1189939" y="0"/>
                  </a:lnTo>
                  <a:lnTo>
                    <a:pt x="1189939" y="2153666"/>
                  </a:lnTo>
                  <a:lnTo>
                    <a:pt x="0" y="21536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7689" tIns="0" rIns="0" bIns="0" numCol="1" spcCol="1270" anchor="t" anchorCtr="0">
              <a:noAutofit/>
            </a:bodyPr>
            <a:lstStyle/>
            <a:p>
              <a:pPr algn="ctr" defTabSz="10668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SUCCESS</a:t>
              </a:r>
              <a:endParaRPr 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423863" y="2325881"/>
            <a:ext cx="576064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64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id-ID" sz="6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92175" y="200025"/>
            <a:ext cx="353695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altLang="zh-CN" b="1" dirty="0">
                <a:solidFill>
                  <a:schemeClr val="bg1"/>
                </a:solidFill>
                <a:cs typeface="+mn-ea"/>
                <a:sym typeface="+mn-lt"/>
              </a:rPr>
              <a:t>LEARNING OUTCOME </a:t>
            </a:r>
            <a:endParaRPr lang="en-IN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>
            <p:custDataLst>
              <p:tags r:id="rId1"/>
            </p:custDataLst>
          </p:nvPr>
        </p:nvGrpSpPr>
        <p:grpSpPr>
          <a:xfrm>
            <a:off x="319026" y="372249"/>
            <a:ext cx="407472" cy="407472"/>
            <a:chOff x="-1828799" y="-88608"/>
            <a:chExt cx="754743" cy="754743"/>
          </a:xfrm>
        </p:grpSpPr>
        <p:sp>
          <p:nvSpPr>
            <p:cNvPr id="55" name="椭圆 54"/>
            <p:cNvSpPr/>
            <p:nvPr/>
          </p:nvSpPr>
          <p:spPr>
            <a:xfrm>
              <a:off x="-1828799" y="-88608"/>
              <a:ext cx="754743" cy="754743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-1609562" y="130629"/>
              <a:ext cx="316268" cy="316268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2" name="Elbow Connector 1"/>
          <p:cNvCxnSpPr/>
          <p:nvPr/>
        </p:nvCxnSpPr>
        <p:spPr>
          <a:xfrm rot="10800000">
            <a:off x="7896860" y="3267710"/>
            <a:ext cx="1535430" cy="1529080"/>
          </a:xfrm>
          <a:prstGeom prst="bentConnector3">
            <a:avLst>
              <a:gd name="adj1" fmla="val 49959"/>
            </a:avLst>
          </a:prstGeom>
          <a:ln w="3175">
            <a:solidFill>
              <a:schemeClr val="bg1">
                <a:lumMod val="6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9330055" y="4617085"/>
            <a:ext cx="2542540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Learned how to use browser developer tools effectively</a:t>
            </a:r>
            <a:endParaRPr lang="en-US" altLang="en-US" sz="1400" dirty="0" smtClean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文本框 1600"/>
          <p:cNvSpPr txBox="1"/>
          <p:nvPr/>
        </p:nvSpPr>
        <p:spPr>
          <a:xfrm>
            <a:off x="2295327" y="2724068"/>
            <a:ext cx="7448550" cy="108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5400" b="1">
                <a:solidFill>
                  <a:schemeClr val="bg1"/>
                </a:solidFill>
                <a:cs typeface="+mn-ea"/>
                <a:sym typeface="+mn-lt"/>
              </a:rPr>
              <a:t>THANKS</a:t>
            </a:r>
            <a:endParaRPr lang="en-US" altLang="zh-CN" sz="5400" b="1" dirty="0">
              <a:solidFill>
                <a:schemeClr val="bg1"/>
              </a:solidFill>
              <a:effectLst>
                <a:glow rad="25400">
                  <a:schemeClr val="bg1">
                    <a:alpha val="60000"/>
                  </a:schemeClr>
                </a:glow>
              </a:effectLst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ags/tag1.xml><?xml version="1.0" encoding="utf-8"?>
<p:tagLst xmlns:p="http://schemas.openxmlformats.org/presentationml/2006/main">
  <p:tag name="NORDRI TOOLS WATERMARK" val="lbuycr5d"/>
</p:tagLst>
</file>

<file path=ppt/tags/tag2.xml><?xml version="1.0" encoding="utf-8"?>
<p:tagLst xmlns:p="http://schemas.openxmlformats.org/presentationml/2006/main">
  <p:tag name="TABLE_ENDDRAG_ORIGIN_RECT" val="236*28"/>
  <p:tag name="TABLE_ENDDRAG_RECT" val="390*72*236*28"/>
</p:tagLst>
</file>

<file path=ppt/tags/tag3.xml><?xml version="1.0" encoding="utf-8"?>
<p:tagLst xmlns:p="http://schemas.openxmlformats.org/presentationml/2006/main">
  <p:tag name="TABLE_ENDDRAG_ORIGIN_RECT" val="204*28"/>
  <p:tag name="TABLE_ENDDRAG_RECT" val="655*79*204*28"/>
</p:tagLst>
</file>

<file path=ppt/tags/tag4.xml><?xml version="1.0" encoding="utf-8"?>
<p:tagLst xmlns:p="http://schemas.openxmlformats.org/presentationml/2006/main">
  <p:tag name="NORDRI TOOLS WATERMARK" val="lbuycr5d"/>
</p:tagLst>
</file>

<file path=ppt/tags/tag5.xml><?xml version="1.0" encoding="utf-8"?>
<p:tagLst xmlns:p="http://schemas.openxmlformats.org/presentationml/2006/main">
  <p:tag name="NORDRI TOOLS WATERMARK" val="lbuycr5d"/>
</p:tagLst>
</file>

<file path=ppt/tags/tag6.xml><?xml version="1.0" encoding="utf-8"?>
<p:tagLst xmlns:p="http://schemas.openxmlformats.org/presentationml/2006/main">
  <p:tag name="NORDRI TOOLS WATERMARK" val="lbuycr5d"/>
</p:tagLst>
</file>

<file path=ppt/tags/tag7.xml><?xml version="1.0" encoding="utf-8"?>
<p:tagLst xmlns:p="http://schemas.openxmlformats.org/presentationml/2006/main">
  <p:tag name="NORDRI TOOLS WATERMARK" val="lbuycr5d"/>
</p:tagLst>
</file>

<file path=ppt/theme/theme1.xml><?xml version="1.0" encoding="utf-8"?>
<a:theme xmlns:a="http://schemas.openxmlformats.org/drawingml/2006/main" name="Office Theme">
  <a:themeElements>
    <a:clrScheme name="IOS苹果风创业计划书模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78B0"/>
      </a:accent1>
      <a:accent2>
        <a:srgbClr val="2A78B0"/>
      </a:accent2>
      <a:accent3>
        <a:srgbClr val="3DACFE"/>
      </a:accent3>
      <a:accent4>
        <a:srgbClr val="518AC6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IOS苹果风创业计划书模板">
    <a:dk1>
      <a:srgbClr val="000000"/>
    </a:dk1>
    <a:lt1>
      <a:srgbClr val="FFFFFF"/>
    </a:lt1>
    <a:dk2>
      <a:srgbClr val="44546A"/>
    </a:dk2>
    <a:lt2>
      <a:srgbClr val="E7E6E6"/>
    </a:lt2>
    <a:accent1>
      <a:srgbClr val="2A78B0"/>
    </a:accent1>
    <a:accent2>
      <a:srgbClr val="2A78B0"/>
    </a:accent2>
    <a:accent3>
      <a:srgbClr val="3DACFE"/>
    </a:accent3>
    <a:accent4>
      <a:srgbClr val="518AC6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A000120150327A07KPBG</Template>
  <TotalTime>0</TotalTime>
  <Words>3075</Words>
  <Application>WPS Slides</Application>
  <PresentationFormat>宽屏</PresentationFormat>
  <Paragraphs>184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Microsoft YaHei</vt:lpstr>
      <vt:lpstr>YouYuan</vt:lpstr>
      <vt:lpstr>Algerian</vt:lpstr>
      <vt:lpstr>Segoe UI</vt:lpstr>
      <vt:lpstr>Google Sans</vt:lpstr>
      <vt:lpstr>Segoe Print</vt:lpstr>
      <vt:lpstr>Bahnschrift Light SemiCondensed</vt:lpstr>
      <vt:lpstr>Calibri</vt:lpstr>
      <vt:lpstr>Arial Unicode MS</vt:lpstr>
      <vt:lpstr>Source Sans Pro</vt:lpstr>
      <vt:lpstr>Oswald Regular</vt:lpstr>
      <vt:lpstr>Helvetica Light</vt:lpstr>
      <vt:lpstr>Kontrapunkt Bob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Jahony</dc:creator>
  <cp:lastModifiedBy>miss anubha</cp:lastModifiedBy>
  <cp:revision>260</cp:revision>
  <dcterms:created xsi:type="dcterms:W3CDTF">2016-07-21T10:34:00Z</dcterms:created>
  <dcterms:modified xsi:type="dcterms:W3CDTF">2025-04-15T17:21:59Z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1033-12.2.0.20782</vt:lpwstr>
  </property>
  <property fmtid="{D5CDD505-2E9C-101B-9397-08002B2CF9AE}" pid="3" name="ICV">
    <vt:lpwstr>641384363A234484A3D4C7C7EAB235C6_11</vt:lpwstr>
  </property>
</Properties>
</file>